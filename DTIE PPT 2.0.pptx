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CA3A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1000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CA3A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jpe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image" Target="../media/image-3-10.png"/><Relationship Id="rId11" Type="http://schemas.openxmlformats.org/officeDocument/2006/relationships/image" Target="../media/image-3-11.png"/><Relationship Id="rId12" Type="http://schemas.openxmlformats.org/officeDocument/2006/relationships/image" Target="../media/image-3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image" Target="../media/image-4-10.png"/><Relationship Id="rId11" Type="http://schemas.openxmlformats.org/officeDocument/2006/relationships/image" Target="../media/image-4-11.png"/><Relationship Id="rId12" Type="http://schemas.openxmlformats.org/officeDocument/2006/relationships/image" Target="../media/image-4-12.png"/><Relationship Id="rId13" Type="http://schemas.openxmlformats.org/officeDocument/2006/relationships/image" Target="../media/image-4-13.png"/><Relationship Id="rId14" Type="http://schemas.openxmlformats.org/officeDocument/2006/relationships/image" Target="../media/image-4-14.png"/><Relationship Id="rId15" Type="http://schemas.openxmlformats.org/officeDocument/2006/relationships/image" Target="../media/image-4-15.png"/><Relationship Id="rId16" Type="http://schemas.openxmlformats.org/officeDocument/2006/relationships/image" Target="../media/image-4-16.png"/><Relationship Id="rId17" Type="http://schemas.openxmlformats.org/officeDocument/2006/relationships/image" Target="../media/image-4-17.png"/><Relationship Id="rId18" Type="http://schemas.openxmlformats.org/officeDocument/2006/relationships/image" Target="../media/image-4-18.jpeg"/><Relationship Id="rId19" Type="http://schemas.openxmlformats.org/officeDocument/2006/relationships/slideLayout" Target="../slideLayouts/slideLayout1.xml"/><Relationship Id="rId20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jpe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jpe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image" Target="../media/image-11-8.png"/><Relationship Id="rId9" Type="http://schemas.openxmlformats.org/officeDocument/2006/relationships/image" Target="../media/image-11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image" Target="../media/image-12-7.png"/><Relationship Id="rId8" Type="http://schemas.openxmlformats.org/officeDocument/2006/relationships/image" Target="../media/image-12-8.png"/><Relationship Id="rId9" Type="http://schemas.openxmlformats.org/officeDocument/2006/relationships/image" Target="../media/image-12-9.png"/><Relationship Id="rId10" Type="http://schemas.openxmlformats.org/officeDocument/2006/relationships/image" Target="../media/image-12-10.png"/><Relationship Id="rId11" Type="http://schemas.openxmlformats.org/officeDocument/2006/relationships/image" Target="../media/image-12-11.png"/><Relationship Id="rId12" Type="http://schemas.openxmlformats.org/officeDocument/2006/relationships/image" Target="../media/image-12-12.png"/><Relationship Id="rId13" Type="http://schemas.openxmlformats.org/officeDocument/2006/relationships/image" Target="../media/image-12-13.png"/><Relationship Id="rId14" Type="http://schemas.openxmlformats.org/officeDocument/2006/relationships/image" Target="../media/image-12-14.png"/><Relationship Id="rId15" Type="http://schemas.openxmlformats.org/officeDocument/2006/relationships/image" Target="../media/image-12-15.png"/><Relationship Id="rId16" Type="http://schemas.openxmlformats.org/officeDocument/2006/relationships/image" Target="../media/image-12-16.png"/><Relationship Id="rId17" Type="http://schemas.openxmlformats.org/officeDocument/2006/relationships/image" Target="../media/image-12-17.png"/><Relationship Id="rId18" Type="http://schemas.openxmlformats.org/officeDocument/2006/relationships/slideLayout" Target="../slideLayouts/slideLayout1.xml"/><Relationship Id="rId19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image" Target="../media/image-13-7.png"/><Relationship Id="rId8" Type="http://schemas.openxmlformats.org/officeDocument/2006/relationships/image" Target="../media/image-13-8.png"/><Relationship Id="rId9" Type="http://schemas.openxmlformats.org/officeDocument/2006/relationships/image" Target="../media/image-13-9.png"/><Relationship Id="rId10" Type="http://schemas.openxmlformats.org/officeDocument/2006/relationships/image" Target="../media/image-13-10.png"/><Relationship Id="rId11" Type="http://schemas.openxmlformats.org/officeDocument/2006/relationships/image" Target="../media/image-13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image" Target="../media/image-14-7.png"/><Relationship Id="rId8" Type="http://schemas.openxmlformats.org/officeDocument/2006/relationships/image" Target="../media/image-14-8.png"/><Relationship Id="rId9" Type="http://schemas.openxmlformats.org/officeDocument/2006/relationships/image" Target="../media/image-14-9.png"/><Relationship Id="rId10" Type="http://schemas.openxmlformats.org/officeDocument/2006/relationships/image" Target="../media/image-14-10.png"/><Relationship Id="rId11" Type="http://schemas.openxmlformats.org/officeDocument/2006/relationships/image" Target="../media/image-14-11.png"/><Relationship Id="rId12" Type="http://schemas.openxmlformats.org/officeDocument/2006/relationships/image" Target="../media/image-14-12.png"/><Relationship Id="rId13" Type="http://schemas.openxmlformats.org/officeDocument/2006/relationships/image" Target="../media/image-14-13.png"/><Relationship Id="rId14" Type="http://schemas.openxmlformats.org/officeDocument/2006/relationships/image" Target="../media/image-14-14.png"/><Relationship Id="rId15" Type="http://schemas.openxmlformats.org/officeDocument/2006/relationships/slideLayout" Target="../slideLayouts/slideLayout1.xml"/><Relationship Id="rId1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image" Target="../media/image-17-5.png"/><Relationship Id="rId6" Type="http://schemas.openxmlformats.org/officeDocument/2006/relationships/image" Target="../media/image-17-6.png"/><Relationship Id="rId7" Type="http://schemas.openxmlformats.org/officeDocument/2006/relationships/image" Target="../media/image-17-7.jpe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image" Target="../media/image-18-5.png"/><Relationship Id="rId6" Type="http://schemas.openxmlformats.org/officeDocument/2006/relationships/image" Target="../media/image-1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jpeg"/><Relationship Id="rId2" Type="http://schemas.openxmlformats.org/officeDocument/2006/relationships/image" Target="../media/image-19-2.jpe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image" Target="../media/image-21-4.png"/><Relationship Id="rId5" Type="http://schemas.openxmlformats.org/officeDocument/2006/relationships/image" Target="../media/image-21-5.png"/><Relationship Id="rId6" Type="http://schemas.openxmlformats.org/officeDocument/2006/relationships/image" Target="../media/image-21-6.png"/><Relationship Id="rId7" Type="http://schemas.openxmlformats.org/officeDocument/2006/relationships/image" Target="../media/image-21-7.png"/><Relationship Id="rId8" Type="http://schemas.openxmlformats.org/officeDocument/2006/relationships/image" Target="../media/image-21-8.png"/><Relationship Id="rId9" Type="http://schemas.openxmlformats.org/officeDocument/2006/relationships/image" Target="../media/image-21-9.png"/><Relationship Id="rId10" Type="http://schemas.openxmlformats.org/officeDocument/2006/relationships/image" Target="../media/image-21-10.png"/><Relationship Id="rId11" Type="http://schemas.openxmlformats.org/officeDocument/2006/relationships/image" Target="../media/image-21-11.png"/><Relationship Id="rId12" Type="http://schemas.openxmlformats.org/officeDocument/2006/relationships/image" Target="../media/image-21-12.png"/><Relationship Id="rId13" Type="http://schemas.openxmlformats.org/officeDocument/2006/relationships/image" Target="../media/image-21-13.png"/><Relationship Id="rId14" Type="http://schemas.openxmlformats.org/officeDocument/2006/relationships/image" Target="../media/image-21-14.png"/><Relationship Id="rId15" Type="http://schemas.openxmlformats.org/officeDocument/2006/relationships/image" Target="../media/image-21-15.png"/><Relationship Id="rId16" Type="http://schemas.openxmlformats.org/officeDocument/2006/relationships/image" Target="../media/image-21-16.png"/><Relationship Id="rId17" Type="http://schemas.openxmlformats.org/officeDocument/2006/relationships/slideLayout" Target="../slideLayouts/slideLayout1.xml"/><Relationship Id="rId18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image" Target="../media/image-22-4.png"/><Relationship Id="rId5" Type="http://schemas.openxmlformats.org/officeDocument/2006/relationships/image" Target="../media/image-22-5.png"/><Relationship Id="rId6" Type="http://schemas.openxmlformats.org/officeDocument/2006/relationships/image" Target="../media/image-22-6.png"/><Relationship Id="rId7" Type="http://schemas.openxmlformats.org/officeDocument/2006/relationships/image" Target="../media/image-22-7.png"/><Relationship Id="rId8" Type="http://schemas.openxmlformats.org/officeDocument/2006/relationships/image" Target="../media/image-22-8.png"/><Relationship Id="rId9" Type="http://schemas.openxmlformats.org/officeDocument/2006/relationships/image" Target="../media/image-22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image" Target="../media/image-23-4.png"/><Relationship Id="rId5" Type="http://schemas.openxmlformats.org/officeDocument/2006/relationships/image" Target="../media/image-23-5.png"/><Relationship Id="rId6" Type="http://schemas.openxmlformats.org/officeDocument/2006/relationships/image" Target="../media/image-23-6.png"/><Relationship Id="rId7" Type="http://schemas.openxmlformats.org/officeDocument/2006/relationships/image" Target="../media/image-23-7.png"/><Relationship Id="rId8" Type="http://schemas.openxmlformats.org/officeDocument/2006/relationships/image" Target="../media/image-23-8.png"/><Relationship Id="rId9" Type="http://schemas.openxmlformats.org/officeDocument/2006/relationships/image" Target="../media/image-23-9.png"/><Relationship Id="rId10" Type="http://schemas.openxmlformats.org/officeDocument/2006/relationships/image" Target="../media/image-23-10.png"/><Relationship Id="rId11" Type="http://schemas.openxmlformats.org/officeDocument/2006/relationships/image" Target="../media/image-23-11.png"/><Relationship Id="rId12" Type="http://schemas.openxmlformats.org/officeDocument/2006/relationships/image" Target="../media/image-23-12.png"/><Relationship Id="rId13" Type="http://schemas.openxmlformats.org/officeDocument/2006/relationships/image" Target="../media/image-23-13.png"/><Relationship Id="rId14" Type="http://schemas.openxmlformats.org/officeDocument/2006/relationships/image" Target="../media/image-23-14.jpeg"/><Relationship Id="rId15" Type="http://schemas.openxmlformats.org/officeDocument/2006/relationships/image" Target="../media/image-23-15.jpeg"/><Relationship Id="rId16" Type="http://schemas.openxmlformats.org/officeDocument/2006/relationships/slideLayout" Target="../slideLayouts/slideLayout1.xml"/><Relationship Id="rId17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image" Target="../media/image-24-3.png"/><Relationship Id="rId4" Type="http://schemas.openxmlformats.org/officeDocument/2006/relationships/image" Target="../media/image-24-4.png"/><Relationship Id="rId5" Type="http://schemas.openxmlformats.org/officeDocument/2006/relationships/image" Target="../media/image-24-5.png"/><Relationship Id="rId6" Type="http://schemas.openxmlformats.org/officeDocument/2006/relationships/image" Target="../media/image-24-6.png"/><Relationship Id="rId7" Type="http://schemas.openxmlformats.org/officeDocument/2006/relationships/image" Target="../media/image-24-7.png"/><Relationship Id="rId8" Type="http://schemas.openxmlformats.org/officeDocument/2006/relationships/image" Target="../media/image-24-8.png"/><Relationship Id="rId9" Type="http://schemas.openxmlformats.org/officeDocument/2006/relationships/image" Target="../media/image-24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3F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737360"/>
            <a:ext cx="63093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education</a:t>
            </a:r>
            <a:endParaRPr lang="en-US" sz="5000" dirty="0"/>
          </a:p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e‑learning platform</a:t>
            </a:r>
            <a:endParaRPr lang="en-US" sz="5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4114800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8FD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anytime, anywhere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731520"/>
            <a:ext cx="640080" cy="640080"/>
          </a:xfrm>
          <a:prstGeom prst="ellipse">
            <a:avLst/>
          </a:prstGeom>
          <a:solidFill>
            <a:srgbClr val="1F5C57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4342" y="904342"/>
            <a:ext cx="294437" cy="294437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589520" y="173736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8FD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7589520" y="22402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K. Ramyasri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9966960" y="22402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B7C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2620080066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7589520" y="280720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G. Gouthami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9966960" y="2807208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B7C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2620030328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7589520" y="3374136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K. Pravalika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9966960" y="3374136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B7C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2620030144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7589520" y="3941064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Sriram Viloch</a:t>
            </a:r>
            <a:endParaRPr lang="en-US" sz="1800" dirty="0"/>
          </a:p>
        </p:txBody>
      </p:sp>
      <p:sp>
        <p:nvSpPr>
          <p:cNvPr id="14" name="Text 11"/>
          <p:cNvSpPr txBox="1"/>
          <p:nvPr/>
        </p:nvSpPr>
        <p:spPr>
          <a:xfrm>
            <a:off x="9966960" y="3941064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B7C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2620030127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7589520" y="450799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Jeswanth Sidharth</a:t>
            </a:r>
            <a:endParaRPr lang="en-US" sz="1800" dirty="0"/>
          </a:p>
        </p:txBody>
      </p:sp>
      <p:sp>
        <p:nvSpPr>
          <p:cNvPr id="16" name="Text 13"/>
          <p:cNvSpPr txBox="1"/>
          <p:nvPr/>
        </p:nvSpPr>
        <p:spPr>
          <a:xfrm>
            <a:off x="9966960" y="4507992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B7C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2620030659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7589520" y="50749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S. Satvik</a:t>
            </a:r>
            <a:endParaRPr lang="en-US" sz="1800" dirty="0"/>
          </a:p>
        </p:txBody>
      </p:sp>
      <p:sp>
        <p:nvSpPr>
          <p:cNvPr id="18" name="Text 15"/>
          <p:cNvSpPr txBox="1"/>
          <p:nvPr/>
        </p:nvSpPr>
        <p:spPr>
          <a:xfrm>
            <a:off x="9966960" y="50749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B7C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2620030607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smart education?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1609344"/>
            <a:ext cx="457200" cy="457200"/>
          </a:xfrm>
          <a:prstGeom prst="ellipse">
            <a:avLst/>
          </a:prstGeom>
          <a:solidFill>
            <a:srgbClr val="0F766E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3524" y="1732788"/>
            <a:ext cx="210312" cy="21031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325880" y="1508760"/>
            <a:ext cx="5897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education uses </a:t>
            </a:r>
            <a:pPr indent="0" marL="0">
              <a:buNone/>
            </a:pPr>
            <a:r>
              <a:rPr lang="en-US" sz="18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pPr indent="0" marL="0">
              <a:buNone/>
            </a:pPr>
            <a:r>
              <a:rPr lang="en-US" sz="18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 learning.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640080" y="2267712"/>
            <a:ext cx="457200" cy="457200"/>
          </a:xfrm>
          <a:prstGeom prst="ellipse">
            <a:avLst/>
          </a:prstGeom>
          <a:solidFill>
            <a:srgbClr val="0F766E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24" y="2391156"/>
            <a:ext cx="210312" cy="210312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325880" y="2167128"/>
            <a:ext cx="5897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connects </a:t>
            </a:r>
            <a:pPr indent="0" marL="0">
              <a:buNone/>
            </a:pPr>
            <a:r>
              <a:rPr lang="en-US" sz="18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students, teachers,</a:t>
            </a:r>
            <a:pPr indent="0" marL="0">
              <a:buNone/>
            </a:pPr>
            <a:r>
              <a:rPr lang="en-US" sz="18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resources.</a:t>
            </a:r>
            <a:endParaRPr lang="en-US" sz="1800" dirty="0"/>
          </a:p>
        </p:txBody>
      </p:sp>
      <p:sp>
        <p:nvSpPr>
          <p:cNvPr id="9" name="Shape 5"/>
          <p:cNvSpPr/>
          <p:nvPr/>
        </p:nvSpPr>
        <p:spPr>
          <a:xfrm>
            <a:off x="640080" y="2926080"/>
            <a:ext cx="457200" cy="457200"/>
          </a:xfrm>
          <a:prstGeom prst="ellipse">
            <a:avLst/>
          </a:prstGeom>
          <a:solidFill>
            <a:srgbClr val="0F766E"/>
          </a:solidFill>
          <a:ln/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524" y="3049524"/>
            <a:ext cx="210312" cy="210312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325880" y="2825496"/>
            <a:ext cx="5897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makes learning </a:t>
            </a:r>
            <a:pPr indent="0" marL="0">
              <a:buNone/>
            </a:pPr>
            <a:r>
              <a:rPr lang="en-US" sz="18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simple, flexible,</a:t>
            </a:r>
            <a:pPr indent="0" marL="0">
              <a:buNone/>
            </a:pPr>
            <a:r>
              <a:rPr lang="en-US" sz="18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effective.</a:t>
            </a:r>
            <a:endParaRPr lang="en-US" sz="1800" dirty="0"/>
          </a:p>
        </p:txBody>
      </p:sp>
      <p:sp>
        <p:nvSpPr>
          <p:cNvPr id="12" name="Shape 7"/>
          <p:cNvSpPr/>
          <p:nvPr/>
        </p:nvSpPr>
        <p:spPr>
          <a:xfrm>
            <a:off x="640080" y="3584448"/>
            <a:ext cx="457200" cy="457200"/>
          </a:xfrm>
          <a:prstGeom prst="ellipse">
            <a:avLst/>
          </a:prstGeom>
          <a:solidFill>
            <a:srgbClr val="0F766E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3524" y="3707892"/>
            <a:ext cx="210312" cy="210312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1325880" y="3483864"/>
            <a:ext cx="5897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can learn </a:t>
            </a:r>
            <a:pPr indent="0" marL="0">
              <a:buNone/>
            </a:pPr>
            <a:r>
              <a:rPr lang="en-US" sz="18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anytime and anywhere.</a:t>
            </a:r>
            <a:endParaRPr lang="en-US" sz="1800" dirty="0"/>
          </a:p>
        </p:txBody>
      </p:sp>
      <p:sp>
        <p:nvSpPr>
          <p:cNvPr id="15" name="Shape 9"/>
          <p:cNvSpPr/>
          <p:nvPr/>
        </p:nvSpPr>
        <p:spPr>
          <a:xfrm>
            <a:off x="640080" y="4242816"/>
            <a:ext cx="457200" cy="457200"/>
          </a:xfrm>
          <a:prstGeom prst="ellipse">
            <a:avLst/>
          </a:prstGeom>
          <a:solidFill>
            <a:srgbClr val="0F766E"/>
          </a:solidFill>
          <a:ln/>
        </p:spPr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3524" y="4366260"/>
            <a:ext cx="210312" cy="210312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1325880" y="4142232"/>
            <a:ext cx="5897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supports </a:t>
            </a:r>
            <a:pPr indent="0" marL="0">
              <a:buNone/>
            </a:pPr>
            <a:r>
              <a:rPr lang="en-US" sz="18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learning</a:t>
            </a:r>
            <a:pPr indent="0" marL="0">
              <a:buNone/>
            </a:pPr>
            <a:r>
              <a:rPr lang="en-US" sz="18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 everyone.</a:t>
            </a:r>
            <a:endParaRPr lang="en-US" sz="1800" dirty="0"/>
          </a:p>
        </p:txBody>
      </p:sp>
      <p:sp>
        <p:nvSpPr>
          <p:cNvPr id="18" name="Shape 11"/>
          <p:cNvSpPr/>
          <p:nvPr/>
        </p:nvSpPr>
        <p:spPr>
          <a:xfrm>
            <a:off x="640080" y="4901184"/>
            <a:ext cx="457200" cy="457200"/>
          </a:xfrm>
          <a:prstGeom prst="ellipse">
            <a:avLst/>
          </a:prstGeom>
          <a:solidFill>
            <a:srgbClr val="0F766E"/>
          </a:solidFill>
          <a:ln/>
        </p:spPr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3524" y="5024628"/>
            <a:ext cx="210312" cy="210312"/>
          </a:xfrm>
          <a:prstGeom prst="rect">
            <a:avLst/>
          </a:prstGeom>
        </p:spPr>
      </p:pic>
      <p:sp>
        <p:nvSpPr>
          <p:cNvPr id="20" name="Text 12"/>
          <p:cNvSpPr txBox="1"/>
          <p:nvPr/>
        </p:nvSpPr>
        <p:spPr>
          <a:xfrm>
            <a:off x="1325880" y="4800600"/>
            <a:ext cx="5897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includes </a:t>
            </a:r>
            <a:pPr indent="0" marL="0">
              <a:buNone/>
            </a:pPr>
            <a:r>
              <a:rPr lang="en-US" sz="18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tools</a:t>
            </a:r>
            <a:pPr indent="0" marL="0">
              <a:buNone/>
            </a:pPr>
            <a:r>
              <a:rPr lang="en-US" sz="18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online platforms.</a:t>
            </a:r>
            <a:endParaRPr lang="en-US" sz="1800" dirty="0"/>
          </a:p>
        </p:txBody>
      </p:sp>
      <p:sp>
        <p:nvSpPr>
          <p:cNvPr id="21" name="Shape 13"/>
          <p:cNvSpPr/>
          <p:nvPr/>
        </p:nvSpPr>
        <p:spPr>
          <a:xfrm>
            <a:off x="640080" y="5559552"/>
            <a:ext cx="457200" cy="457200"/>
          </a:xfrm>
          <a:prstGeom prst="ellipse">
            <a:avLst/>
          </a:prstGeom>
          <a:solidFill>
            <a:srgbClr val="0F766E"/>
          </a:solidFill>
          <a:ln/>
        </p:spPr>
      </p:sp>
      <p:pic>
        <p:nvPicPr>
          <p:cNvPr id="2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3524" y="5682996"/>
            <a:ext cx="210312" cy="210312"/>
          </a:xfrm>
          <a:prstGeom prst="rect">
            <a:avLst/>
          </a:prstGeom>
        </p:spPr>
      </p:pic>
      <p:sp>
        <p:nvSpPr>
          <p:cNvPr id="23" name="Text 14"/>
          <p:cNvSpPr txBox="1"/>
          <p:nvPr/>
        </p:nvSpPr>
        <p:spPr>
          <a:xfrm>
            <a:off x="1325880" y="5458968"/>
            <a:ext cx="5897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prepares students for a </a:t>
            </a:r>
            <a:pPr indent="0" marL="0">
              <a:buNone/>
            </a:pPr>
            <a:r>
              <a:rPr lang="en-US" sz="18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future.</a:t>
            </a:r>
            <a:endParaRPr lang="en-US" sz="1800" dirty="0"/>
          </a:p>
        </p:txBody>
      </p:sp>
      <p:pic>
        <p:nvPicPr>
          <p:cNvPr id="24" name="Image 7" descr="Student learning online with a teacher on a laptop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89520" y="1508760"/>
            <a:ext cx="3977640" cy="2651760"/>
          </a:xfrm>
          <a:prstGeom prst="rect">
            <a:avLst/>
          </a:prstGeom>
        </p:spPr>
      </p:pic>
      <p:sp>
        <p:nvSpPr>
          <p:cNvPr id="25" name="Text 15"/>
          <p:cNvSpPr txBox="1"/>
          <p:nvPr/>
        </p:nvSpPr>
        <p:spPr>
          <a:xfrm>
            <a:off x="7589520" y="44348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FIVE WORDS</a:t>
            </a:r>
            <a:endParaRPr lang="en-US" sz="1200" dirty="0"/>
          </a:p>
        </p:txBody>
      </p:sp>
      <p:sp>
        <p:nvSpPr>
          <p:cNvPr id="26" name="Shape 16"/>
          <p:cNvSpPr/>
          <p:nvPr/>
        </p:nvSpPr>
        <p:spPr>
          <a:xfrm>
            <a:off x="7589520" y="4846320"/>
            <a:ext cx="1188720" cy="457200"/>
          </a:xfrm>
          <a:prstGeom prst="roundRect">
            <a:avLst>
              <a:gd name="adj" fmla="val 50000"/>
            </a:avLst>
          </a:prstGeom>
          <a:solidFill>
            <a:srgbClr val="ECF5F3"/>
          </a:solidFill>
          <a:ln/>
        </p:spPr>
      </p:sp>
      <p:sp>
        <p:nvSpPr>
          <p:cNvPr id="27" name="Text 17"/>
          <p:cNvSpPr txBox="1"/>
          <p:nvPr/>
        </p:nvSpPr>
        <p:spPr>
          <a:xfrm>
            <a:off x="7589520" y="484632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Connected</a:t>
            </a:r>
            <a:endParaRPr lang="en-US" sz="1300" dirty="0"/>
          </a:p>
        </p:txBody>
      </p:sp>
      <p:sp>
        <p:nvSpPr>
          <p:cNvPr id="28" name="Shape 18"/>
          <p:cNvSpPr/>
          <p:nvPr/>
        </p:nvSpPr>
        <p:spPr>
          <a:xfrm>
            <a:off x="8846820" y="4846320"/>
            <a:ext cx="1188720" cy="457200"/>
          </a:xfrm>
          <a:prstGeom prst="roundRect">
            <a:avLst>
              <a:gd name="adj" fmla="val 50000"/>
            </a:avLst>
          </a:prstGeom>
          <a:solidFill>
            <a:srgbClr val="ECF5F3"/>
          </a:solidFill>
          <a:ln/>
        </p:spPr>
      </p:sp>
      <p:sp>
        <p:nvSpPr>
          <p:cNvPr id="29" name="Text 19"/>
          <p:cNvSpPr txBox="1"/>
          <p:nvPr/>
        </p:nvSpPr>
        <p:spPr>
          <a:xfrm>
            <a:off x="8846820" y="484632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tools</a:t>
            </a:r>
            <a:endParaRPr lang="en-US" sz="1300" dirty="0"/>
          </a:p>
        </p:txBody>
      </p:sp>
      <p:sp>
        <p:nvSpPr>
          <p:cNvPr id="30" name="Shape 20"/>
          <p:cNvSpPr/>
          <p:nvPr/>
        </p:nvSpPr>
        <p:spPr>
          <a:xfrm>
            <a:off x="10104120" y="4846320"/>
            <a:ext cx="1463040" cy="457200"/>
          </a:xfrm>
          <a:prstGeom prst="roundRect">
            <a:avLst>
              <a:gd name="adj" fmla="val 50000"/>
            </a:avLst>
          </a:prstGeom>
          <a:solidFill>
            <a:srgbClr val="ECF5F3"/>
          </a:solidFill>
          <a:ln/>
        </p:spPr>
      </p:sp>
      <p:sp>
        <p:nvSpPr>
          <p:cNvPr id="31" name="Text 21"/>
          <p:cNvSpPr txBox="1"/>
          <p:nvPr/>
        </p:nvSpPr>
        <p:spPr>
          <a:xfrm>
            <a:off x="10104120" y="48463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Flexible learning</a:t>
            </a:r>
            <a:endParaRPr lang="en-US" sz="1300" dirty="0"/>
          </a:p>
        </p:txBody>
      </p:sp>
      <p:sp>
        <p:nvSpPr>
          <p:cNvPr id="32" name="Shape 22"/>
          <p:cNvSpPr/>
          <p:nvPr/>
        </p:nvSpPr>
        <p:spPr>
          <a:xfrm>
            <a:off x="7589520" y="5440680"/>
            <a:ext cx="1783080" cy="457200"/>
          </a:xfrm>
          <a:prstGeom prst="roundRect">
            <a:avLst>
              <a:gd name="adj" fmla="val 50000"/>
            </a:avLst>
          </a:prstGeom>
          <a:solidFill>
            <a:srgbClr val="ECF5F3"/>
          </a:solidFill>
          <a:ln/>
        </p:spPr>
      </p:sp>
      <p:sp>
        <p:nvSpPr>
          <p:cNvPr id="33" name="Text 23"/>
          <p:cNvSpPr txBox="1"/>
          <p:nvPr/>
        </p:nvSpPr>
        <p:spPr>
          <a:xfrm>
            <a:off x="7589520" y="544068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Anytime, anywhere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9441180" y="5440680"/>
            <a:ext cx="1371600" cy="457200"/>
          </a:xfrm>
          <a:prstGeom prst="roundRect">
            <a:avLst>
              <a:gd name="adj" fmla="val 50000"/>
            </a:avLst>
          </a:prstGeom>
          <a:solidFill>
            <a:srgbClr val="ECF5F3"/>
          </a:solidFill>
          <a:ln/>
        </p:spPr>
      </p:sp>
      <p:sp>
        <p:nvSpPr>
          <p:cNvPr id="35" name="Text 25"/>
          <p:cNvSpPr txBox="1"/>
          <p:nvPr/>
        </p:nvSpPr>
        <p:spPr>
          <a:xfrm>
            <a:off x="9441180" y="54406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future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CA3A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smart education works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1645920"/>
            <a:ext cx="2468880" cy="1874520"/>
          </a:xfrm>
          <a:prstGeom prst="roundRect">
            <a:avLst>
              <a:gd name="adj" fmla="val 5854"/>
            </a:avLst>
          </a:prstGeom>
          <a:solidFill>
            <a:srgbClr val="ECF5F3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2194560" y="182880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914400" y="1920240"/>
            <a:ext cx="640080" cy="640080"/>
          </a:xfrm>
          <a:prstGeom prst="ellipse">
            <a:avLst/>
          </a:prstGeom>
          <a:solidFill>
            <a:srgbClr val="0F766E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7222" y="2093062"/>
            <a:ext cx="294437" cy="294437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914400" y="269748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</a:t>
            </a:r>
            <a:endParaRPr lang="en-US" sz="18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2468880"/>
            <a:ext cx="182880" cy="18288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3474720" y="1645920"/>
            <a:ext cx="2468880" cy="1874520"/>
          </a:xfrm>
          <a:prstGeom prst="roundRect">
            <a:avLst>
              <a:gd name="adj" fmla="val 5854"/>
            </a:avLst>
          </a:prstGeom>
          <a:solidFill>
            <a:srgbClr val="ECF5F3"/>
          </a:solidFill>
          <a:ln/>
        </p:spPr>
      </p:sp>
      <p:sp>
        <p:nvSpPr>
          <p:cNvPr id="10" name="Text 6"/>
          <p:cNvSpPr txBox="1"/>
          <p:nvPr/>
        </p:nvSpPr>
        <p:spPr>
          <a:xfrm>
            <a:off x="5029200" y="182880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3749040" y="1920240"/>
            <a:ext cx="640080" cy="640080"/>
          </a:xfrm>
          <a:prstGeom prst="ellipse">
            <a:avLst/>
          </a:prstGeom>
          <a:solidFill>
            <a:srgbClr val="0F766E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21862" y="2093062"/>
            <a:ext cx="294437" cy="294437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3749040" y="269748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platform</a:t>
            </a:r>
            <a:endParaRPr lang="en-US" sz="180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5040" y="2468880"/>
            <a:ext cx="182880" cy="182880"/>
          </a:xfrm>
          <a:prstGeom prst="rect">
            <a:avLst/>
          </a:prstGeom>
        </p:spPr>
      </p:pic>
      <p:sp>
        <p:nvSpPr>
          <p:cNvPr id="15" name="Shape 9"/>
          <p:cNvSpPr/>
          <p:nvPr/>
        </p:nvSpPr>
        <p:spPr>
          <a:xfrm>
            <a:off x="6309360" y="1645920"/>
            <a:ext cx="2468880" cy="1874520"/>
          </a:xfrm>
          <a:prstGeom prst="roundRect">
            <a:avLst>
              <a:gd name="adj" fmla="val 5854"/>
            </a:avLst>
          </a:prstGeom>
          <a:solidFill>
            <a:srgbClr val="ECF5F3"/>
          </a:solidFill>
          <a:ln/>
        </p:spPr>
      </p:sp>
      <p:sp>
        <p:nvSpPr>
          <p:cNvPr id="16" name="Text 10"/>
          <p:cNvSpPr txBox="1"/>
          <p:nvPr/>
        </p:nvSpPr>
        <p:spPr>
          <a:xfrm>
            <a:off x="7863840" y="182880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17" name="Shape 11"/>
          <p:cNvSpPr/>
          <p:nvPr/>
        </p:nvSpPr>
        <p:spPr>
          <a:xfrm>
            <a:off x="6583680" y="1920240"/>
            <a:ext cx="640080" cy="640080"/>
          </a:xfrm>
          <a:prstGeom prst="ellipse">
            <a:avLst/>
          </a:prstGeom>
          <a:solidFill>
            <a:srgbClr val="0F766E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56502" y="2093062"/>
            <a:ext cx="294437" cy="294437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6583680" y="269748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content</a:t>
            </a:r>
            <a:endParaRPr lang="en-US" sz="1800" dirty="0"/>
          </a:p>
        </p:txBody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69680" y="2468880"/>
            <a:ext cx="182880" cy="182880"/>
          </a:xfrm>
          <a:prstGeom prst="rect">
            <a:avLst/>
          </a:prstGeom>
        </p:spPr>
      </p:pic>
      <p:sp>
        <p:nvSpPr>
          <p:cNvPr id="21" name="Shape 13"/>
          <p:cNvSpPr/>
          <p:nvPr/>
        </p:nvSpPr>
        <p:spPr>
          <a:xfrm>
            <a:off x="9144000" y="1645920"/>
            <a:ext cx="2468880" cy="1874520"/>
          </a:xfrm>
          <a:prstGeom prst="roundRect">
            <a:avLst>
              <a:gd name="adj" fmla="val 5854"/>
            </a:avLst>
          </a:prstGeom>
          <a:solidFill>
            <a:srgbClr val="ECF5F3"/>
          </a:solidFill>
          <a:ln/>
        </p:spPr>
      </p:sp>
      <p:sp>
        <p:nvSpPr>
          <p:cNvPr id="22" name="Text 14"/>
          <p:cNvSpPr txBox="1"/>
          <p:nvPr/>
        </p:nvSpPr>
        <p:spPr>
          <a:xfrm>
            <a:off x="10698480" y="182880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23" name="Shape 15"/>
          <p:cNvSpPr/>
          <p:nvPr/>
        </p:nvSpPr>
        <p:spPr>
          <a:xfrm>
            <a:off x="9418320" y="1920240"/>
            <a:ext cx="640080" cy="640080"/>
          </a:xfrm>
          <a:prstGeom prst="ellipse">
            <a:avLst/>
          </a:prstGeom>
          <a:solidFill>
            <a:srgbClr val="0F766E"/>
          </a:solidFill>
          <a:ln/>
        </p:spPr>
      </p:sp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91142" y="2093062"/>
            <a:ext cx="294437" cy="294437"/>
          </a:xfrm>
          <a:prstGeom prst="rect">
            <a:avLst/>
          </a:prstGeom>
        </p:spPr>
      </p:pic>
      <p:sp>
        <p:nvSpPr>
          <p:cNvPr id="25" name="Text 16"/>
          <p:cNvSpPr txBox="1"/>
          <p:nvPr/>
        </p:nvSpPr>
        <p:spPr>
          <a:xfrm>
            <a:off x="9418320" y="269748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&amp; activities</a:t>
            </a:r>
            <a:endParaRPr lang="en-US" sz="1800" dirty="0"/>
          </a:p>
        </p:txBody>
      </p:sp>
      <p:sp>
        <p:nvSpPr>
          <p:cNvPr id="26" name="Shape 17"/>
          <p:cNvSpPr/>
          <p:nvPr/>
        </p:nvSpPr>
        <p:spPr>
          <a:xfrm>
            <a:off x="640080" y="3886200"/>
            <a:ext cx="2468880" cy="1874520"/>
          </a:xfrm>
          <a:prstGeom prst="roundRect">
            <a:avLst>
              <a:gd name="adj" fmla="val 5854"/>
            </a:avLst>
          </a:prstGeom>
          <a:solidFill>
            <a:srgbClr val="ECF5F3"/>
          </a:solidFill>
          <a:ln/>
        </p:spPr>
      </p:sp>
      <p:sp>
        <p:nvSpPr>
          <p:cNvPr id="27" name="Text 18"/>
          <p:cNvSpPr txBox="1"/>
          <p:nvPr/>
        </p:nvSpPr>
        <p:spPr>
          <a:xfrm>
            <a:off x="2194560" y="406908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28" name="Shape 19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0F766E"/>
          </a:solidFill>
          <a:ln/>
        </p:spPr>
      </p:sp>
      <p:pic>
        <p:nvPicPr>
          <p:cNvPr id="2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87222" y="4333342"/>
            <a:ext cx="294437" cy="294437"/>
          </a:xfrm>
          <a:prstGeom prst="rect">
            <a:avLst/>
          </a:prstGeom>
        </p:spPr>
      </p:pic>
      <p:sp>
        <p:nvSpPr>
          <p:cNvPr id="30" name="Text 20"/>
          <p:cNvSpPr txBox="1"/>
          <p:nvPr/>
        </p:nvSpPr>
        <p:spPr>
          <a:xfrm>
            <a:off x="914400" y="493776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</a:t>
            </a:r>
            <a:endParaRPr lang="en-US" sz="1800" dirty="0"/>
          </a:p>
        </p:txBody>
      </p:sp>
      <p:pic>
        <p:nvPicPr>
          <p:cNvPr id="31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200400" y="4709160"/>
            <a:ext cx="182880" cy="182880"/>
          </a:xfrm>
          <a:prstGeom prst="rect">
            <a:avLst/>
          </a:prstGeom>
        </p:spPr>
      </p:pic>
      <p:sp>
        <p:nvSpPr>
          <p:cNvPr id="32" name="Shape 21"/>
          <p:cNvSpPr/>
          <p:nvPr/>
        </p:nvSpPr>
        <p:spPr>
          <a:xfrm>
            <a:off x="3474720" y="3886200"/>
            <a:ext cx="2468880" cy="1874520"/>
          </a:xfrm>
          <a:prstGeom prst="roundRect">
            <a:avLst>
              <a:gd name="adj" fmla="val 5854"/>
            </a:avLst>
          </a:prstGeom>
          <a:solidFill>
            <a:srgbClr val="ECF5F3"/>
          </a:solidFill>
          <a:ln/>
        </p:spPr>
      </p:sp>
      <p:sp>
        <p:nvSpPr>
          <p:cNvPr id="33" name="Text 22"/>
          <p:cNvSpPr txBox="1"/>
          <p:nvPr/>
        </p:nvSpPr>
        <p:spPr>
          <a:xfrm>
            <a:off x="5029200" y="406908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400" dirty="0"/>
          </a:p>
        </p:txBody>
      </p:sp>
      <p:sp>
        <p:nvSpPr>
          <p:cNvPr id="34" name="Shape 23"/>
          <p:cNvSpPr/>
          <p:nvPr/>
        </p:nvSpPr>
        <p:spPr>
          <a:xfrm>
            <a:off x="3749040" y="4160520"/>
            <a:ext cx="640080" cy="640080"/>
          </a:xfrm>
          <a:prstGeom prst="ellipse">
            <a:avLst/>
          </a:prstGeom>
          <a:solidFill>
            <a:srgbClr val="0F766E"/>
          </a:solidFill>
          <a:ln/>
        </p:spPr>
      </p:sp>
      <p:pic>
        <p:nvPicPr>
          <p:cNvPr id="35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921862" y="4333342"/>
            <a:ext cx="294437" cy="294437"/>
          </a:xfrm>
          <a:prstGeom prst="rect">
            <a:avLst/>
          </a:prstGeom>
        </p:spPr>
      </p:pic>
      <p:sp>
        <p:nvSpPr>
          <p:cNvPr id="36" name="Text 24"/>
          <p:cNvSpPr txBox="1"/>
          <p:nvPr/>
        </p:nvSpPr>
        <p:spPr>
          <a:xfrm>
            <a:off x="3749040" y="493776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analytics</a:t>
            </a:r>
            <a:endParaRPr lang="en-US" sz="1800" dirty="0"/>
          </a:p>
        </p:txBody>
      </p:sp>
      <p:pic>
        <p:nvPicPr>
          <p:cNvPr id="37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035040" y="4709160"/>
            <a:ext cx="182880" cy="182880"/>
          </a:xfrm>
          <a:prstGeom prst="rect">
            <a:avLst/>
          </a:prstGeom>
        </p:spPr>
      </p:pic>
      <p:sp>
        <p:nvSpPr>
          <p:cNvPr id="38" name="Shape 25"/>
          <p:cNvSpPr/>
          <p:nvPr/>
        </p:nvSpPr>
        <p:spPr>
          <a:xfrm>
            <a:off x="6309360" y="3886200"/>
            <a:ext cx="2468880" cy="1874520"/>
          </a:xfrm>
          <a:prstGeom prst="roundRect">
            <a:avLst>
              <a:gd name="adj" fmla="val 5854"/>
            </a:avLst>
          </a:prstGeom>
          <a:solidFill>
            <a:srgbClr val="ECF5F3"/>
          </a:solidFill>
          <a:ln/>
        </p:spPr>
      </p:sp>
      <p:sp>
        <p:nvSpPr>
          <p:cNvPr id="39" name="Text 26"/>
          <p:cNvSpPr txBox="1"/>
          <p:nvPr/>
        </p:nvSpPr>
        <p:spPr>
          <a:xfrm>
            <a:off x="7863840" y="406908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400" dirty="0"/>
          </a:p>
        </p:txBody>
      </p:sp>
      <p:sp>
        <p:nvSpPr>
          <p:cNvPr id="40" name="Shape 27"/>
          <p:cNvSpPr/>
          <p:nvPr/>
        </p:nvSpPr>
        <p:spPr>
          <a:xfrm>
            <a:off x="6583680" y="4160520"/>
            <a:ext cx="640080" cy="640080"/>
          </a:xfrm>
          <a:prstGeom prst="ellipse">
            <a:avLst/>
          </a:prstGeom>
          <a:solidFill>
            <a:srgbClr val="0F766E"/>
          </a:solidFill>
          <a:ln/>
        </p:spPr>
      </p:sp>
      <p:pic>
        <p:nvPicPr>
          <p:cNvPr id="41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756502" y="4333342"/>
            <a:ext cx="294437" cy="294437"/>
          </a:xfrm>
          <a:prstGeom prst="rect">
            <a:avLst/>
          </a:prstGeom>
        </p:spPr>
      </p:pic>
      <p:sp>
        <p:nvSpPr>
          <p:cNvPr id="42" name="Text 28"/>
          <p:cNvSpPr txBox="1"/>
          <p:nvPr/>
        </p:nvSpPr>
        <p:spPr>
          <a:xfrm>
            <a:off x="6583680" y="493776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&amp; improvement</a:t>
            </a:r>
            <a:endParaRPr lang="en-US" sz="1800" dirty="0"/>
          </a:p>
        </p:txBody>
      </p:sp>
      <p:sp>
        <p:nvSpPr>
          <p:cNvPr id="43" name="Text 29"/>
          <p:cNvSpPr txBox="1"/>
          <p:nvPr/>
        </p:nvSpPr>
        <p:spPr>
          <a:xfrm>
            <a:off x="9144000" y="3886200"/>
            <a:ext cx="246888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education is not just about watching videos. It is a </a:t>
            </a:r>
            <a:pPr indent="0" marL="0">
              <a:buNone/>
            </a:pPr>
            <a:r>
              <a:rPr lang="en-US" sz="20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learning cycle.</a:t>
            </a:r>
            <a:pPr indent="0" marL="0">
              <a:buNone/>
            </a:pP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CA3A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an e-learning platform?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32588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digital environment where students and teachers can: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1965960" cy="868680"/>
          </a:xfrm>
          <a:prstGeom prst="roundRect">
            <a:avLst>
              <a:gd name="adj" fmla="val 12632"/>
            </a:avLst>
          </a:prstGeom>
          <a:solidFill>
            <a:srgbClr val="ECF5F3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194560"/>
            <a:ext cx="320040" cy="3200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280160" y="1920240"/>
            <a:ext cx="1234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</a:t>
            </a:r>
            <a:endParaRPr lang="en-US" sz="16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0048" y="2263140"/>
            <a:ext cx="182880" cy="18288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2875788" y="1920240"/>
            <a:ext cx="1965960" cy="868680"/>
          </a:xfrm>
          <a:prstGeom prst="roundRect">
            <a:avLst>
              <a:gd name="adj" fmla="val 12632"/>
            </a:avLst>
          </a:prstGeom>
          <a:solidFill>
            <a:srgbClr val="ECF5F3"/>
          </a:solidFill>
          <a:ln/>
        </p:spPr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58668" y="2194560"/>
            <a:ext cx="320040" cy="320040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3515868" y="1920240"/>
            <a:ext cx="1234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</a:t>
            </a:r>
            <a:endParaRPr lang="en-US" sz="160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05756" y="2263140"/>
            <a:ext cx="182880" cy="182880"/>
          </a:xfrm>
          <a:prstGeom prst="rect">
            <a:avLst/>
          </a:prstGeom>
        </p:spPr>
      </p:pic>
      <p:sp>
        <p:nvSpPr>
          <p:cNvPr id="12" name="Shape 6"/>
          <p:cNvSpPr/>
          <p:nvPr/>
        </p:nvSpPr>
        <p:spPr>
          <a:xfrm>
            <a:off x="5111496" y="1920240"/>
            <a:ext cx="1965960" cy="868680"/>
          </a:xfrm>
          <a:prstGeom prst="roundRect">
            <a:avLst>
              <a:gd name="adj" fmla="val 12632"/>
            </a:avLst>
          </a:prstGeom>
          <a:solidFill>
            <a:srgbClr val="ECF5F3"/>
          </a:solidFill>
          <a:ln/>
        </p:spPr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94376" y="2194560"/>
            <a:ext cx="320040" cy="320040"/>
          </a:xfrm>
          <a:prstGeom prst="rect">
            <a:avLst/>
          </a:prstGeom>
        </p:spPr>
      </p:pic>
      <p:sp>
        <p:nvSpPr>
          <p:cNvPr id="14" name="Text 7"/>
          <p:cNvSpPr txBox="1"/>
          <p:nvPr/>
        </p:nvSpPr>
        <p:spPr>
          <a:xfrm>
            <a:off x="5751576" y="1920240"/>
            <a:ext cx="1234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</a:t>
            </a:r>
            <a:endParaRPr lang="en-US" sz="1600" dirty="0"/>
          </a:p>
        </p:txBody>
      </p:sp>
      <p:pic>
        <p:nvPicPr>
          <p:cNvPr id="1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41464" y="2263140"/>
            <a:ext cx="182880" cy="182880"/>
          </a:xfrm>
          <a:prstGeom prst="rect">
            <a:avLst/>
          </a:prstGeom>
        </p:spPr>
      </p:pic>
      <p:sp>
        <p:nvSpPr>
          <p:cNvPr id="16" name="Shape 8"/>
          <p:cNvSpPr/>
          <p:nvPr/>
        </p:nvSpPr>
        <p:spPr>
          <a:xfrm>
            <a:off x="7347204" y="1920240"/>
            <a:ext cx="1965960" cy="868680"/>
          </a:xfrm>
          <a:prstGeom prst="roundRect">
            <a:avLst>
              <a:gd name="adj" fmla="val 12632"/>
            </a:avLst>
          </a:prstGeom>
          <a:solidFill>
            <a:srgbClr val="ECF5F3"/>
          </a:solidFill>
          <a:ln/>
        </p:spPr>
      </p:sp>
      <p:pic>
        <p:nvPicPr>
          <p:cNvPr id="1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30084" y="2194560"/>
            <a:ext cx="320040" cy="320040"/>
          </a:xfrm>
          <a:prstGeom prst="rect">
            <a:avLst/>
          </a:prstGeom>
        </p:spPr>
      </p:pic>
      <p:sp>
        <p:nvSpPr>
          <p:cNvPr id="18" name="Text 9"/>
          <p:cNvSpPr txBox="1"/>
          <p:nvPr/>
        </p:nvSpPr>
        <p:spPr>
          <a:xfrm>
            <a:off x="7987284" y="1920240"/>
            <a:ext cx="1234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 feedback</a:t>
            </a:r>
            <a:endParaRPr lang="en-US" sz="1600" dirty="0"/>
          </a:p>
        </p:txBody>
      </p:sp>
      <p:pic>
        <p:nvPicPr>
          <p:cNvPr id="1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77172" y="2263140"/>
            <a:ext cx="182880" cy="182880"/>
          </a:xfrm>
          <a:prstGeom prst="rect">
            <a:avLst/>
          </a:prstGeom>
        </p:spPr>
      </p:pic>
      <p:sp>
        <p:nvSpPr>
          <p:cNvPr id="20" name="Shape 10"/>
          <p:cNvSpPr/>
          <p:nvPr/>
        </p:nvSpPr>
        <p:spPr>
          <a:xfrm>
            <a:off x="9582912" y="1920240"/>
            <a:ext cx="1965960" cy="868680"/>
          </a:xfrm>
          <a:prstGeom prst="roundRect">
            <a:avLst>
              <a:gd name="adj" fmla="val 12632"/>
            </a:avLst>
          </a:prstGeom>
          <a:solidFill>
            <a:srgbClr val="ECF5F3"/>
          </a:solidFill>
          <a:ln/>
        </p:spPr>
      </p:sp>
      <p:pic>
        <p:nvPicPr>
          <p:cNvPr id="21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765792" y="2194560"/>
            <a:ext cx="320040" cy="320040"/>
          </a:xfrm>
          <a:prstGeom prst="rect">
            <a:avLst/>
          </a:prstGeom>
        </p:spPr>
      </p:pic>
      <p:sp>
        <p:nvSpPr>
          <p:cNvPr id="22" name="Text 11"/>
          <p:cNvSpPr txBox="1"/>
          <p:nvPr/>
        </p:nvSpPr>
        <p:spPr>
          <a:xfrm>
            <a:off x="10222992" y="1920240"/>
            <a:ext cx="1234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</a:t>
            </a:r>
            <a:endParaRPr lang="en-US" sz="1600" dirty="0"/>
          </a:p>
        </p:txBody>
      </p:sp>
      <p:sp>
        <p:nvSpPr>
          <p:cNvPr id="23" name="Text 12"/>
          <p:cNvSpPr txBox="1"/>
          <p:nvPr/>
        </p:nvSpPr>
        <p:spPr>
          <a:xfrm>
            <a:off x="640080" y="315468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can provide</a:t>
            </a:r>
            <a:endParaRPr lang="en-US" sz="2000" dirty="0"/>
          </a:p>
        </p:txBody>
      </p:sp>
      <p:sp>
        <p:nvSpPr>
          <p:cNvPr id="24" name="Shape 13"/>
          <p:cNvSpPr/>
          <p:nvPr/>
        </p:nvSpPr>
        <p:spPr>
          <a:xfrm>
            <a:off x="640080" y="3749040"/>
            <a:ext cx="457200" cy="457200"/>
          </a:xfrm>
          <a:prstGeom prst="ellipse">
            <a:avLst/>
          </a:prstGeom>
          <a:solidFill>
            <a:srgbClr val="0F766E"/>
          </a:solidFill>
          <a:ln/>
        </p:spPr>
      </p:sp>
      <p:pic>
        <p:nvPicPr>
          <p:cNvPr id="25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63524" y="3872484"/>
            <a:ext cx="210312" cy="210312"/>
          </a:xfrm>
          <a:prstGeom prst="rect">
            <a:avLst/>
          </a:prstGeom>
        </p:spPr>
      </p:pic>
      <p:sp>
        <p:nvSpPr>
          <p:cNvPr id="26" name="Text 14"/>
          <p:cNvSpPr txBox="1"/>
          <p:nvPr/>
        </p:nvSpPr>
        <p:spPr>
          <a:xfrm>
            <a:off x="1325880" y="365760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classes</a:t>
            </a:r>
            <a:endParaRPr lang="en-US" sz="1800" dirty="0"/>
          </a:p>
        </p:txBody>
      </p:sp>
      <p:sp>
        <p:nvSpPr>
          <p:cNvPr id="27" name="Shape 15"/>
          <p:cNvSpPr/>
          <p:nvPr/>
        </p:nvSpPr>
        <p:spPr>
          <a:xfrm>
            <a:off x="640080" y="4389120"/>
            <a:ext cx="457200" cy="457200"/>
          </a:xfrm>
          <a:prstGeom prst="ellipse">
            <a:avLst/>
          </a:prstGeom>
          <a:solidFill>
            <a:srgbClr val="0F766E"/>
          </a:solidFill>
          <a:ln/>
        </p:spPr>
      </p:sp>
      <p:pic>
        <p:nvPicPr>
          <p:cNvPr id="28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63524" y="4512564"/>
            <a:ext cx="210312" cy="210312"/>
          </a:xfrm>
          <a:prstGeom prst="rect">
            <a:avLst/>
          </a:prstGeom>
        </p:spPr>
      </p:pic>
      <p:sp>
        <p:nvSpPr>
          <p:cNvPr id="29" name="Text 16"/>
          <p:cNvSpPr txBox="1"/>
          <p:nvPr/>
        </p:nvSpPr>
        <p:spPr>
          <a:xfrm>
            <a:off x="1325880" y="429768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Recorded lectures</a:t>
            </a:r>
            <a:endParaRPr lang="en-US" sz="1800" dirty="0"/>
          </a:p>
        </p:txBody>
      </p:sp>
      <p:sp>
        <p:nvSpPr>
          <p:cNvPr id="30" name="Shape 17"/>
          <p:cNvSpPr/>
          <p:nvPr/>
        </p:nvSpPr>
        <p:spPr>
          <a:xfrm>
            <a:off x="640080" y="5029200"/>
            <a:ext cx="457200" cy="457200"/>
          </a:xfrm>
          <a:prstGeom prst="ellipse">
            <a:avLst/>
          </a:prstGeom>
          <a:solidFill>
            <a:srgbClr val="0F766E"/>
          </a:solidFill>
          <a:ln/>
        </p:spPr>
      </p:sp>
      <p:pic>
        <p:nvPicPr>
          <p:cNvPr id="31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63524" y="5152644"/>
            <a:ext cx="210312" cy="210312"/>
          </a:xfrm>
          <a:prstGeom prst="rect">
            <a:avLst/>
          </a:prstGeom>
        </p:spPr>
      </p:pic>
      <p:sp>
        <p:nvSpPr>
          <p:cNvPr id="32" name="Text 18"/>
          <p:cNvSpPr txBox="1"/>
          <p:nvPr/>
        </p:nvSpPr>
        <p:spPr>
          <a:xfrm>
            <a:off x="1325880" y="493776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Notes and e-books</a:t>
            </a:r>
            <a:endParaRPr lang="en-US" sz="1800" dirty="0"/>
          </a:p>
        </p:txBody>
      </p:sp>
      <p:sp>
        <p:nvSpPr>
          <p:cNvPr id="33" name="Shape 19"/>
          <p:cNvSpPr/>
          <p:nvPr/>
        </p:nvSpPr>
        <p:spPr>
          <a:xfrm>
            <a:off x="640080" y="5669280"/>
            <a:ext cx="457200" cy="457200"/>
          </a:xfrm>
          <a:prstGeom prst="ellipse">
            <a:avLst/>
          </a:prstGeom>
          <a:solidFill>
            <a:srgbClr val="0F766E"/>
          </a:solidFill>
          <a:ln/>
        </p:spPr>
      </p:sp>
      <p:pic>
        <p:nvPicPr>
          <p:cNvPr id="34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3524" y="5792724"/>
            <a:ext cx="210312" cy="210312"/>
          </a:xfrm>
          <a:prstGeom prst="rect">
            <a:avLst/>
          </a:prstGeom>
        </p:spPr>
      </p:pic>
      <p:sp>
        <p:nvSpPr>
          <p:cNvPr id="35" name="Text 20"/>
          <p:cNvSpPr txBox="1"/>
          <p:nvPr/>
        </p:nvSpPr>
        <p:spPr>
          <a:xfrm>
            <a:off x="1325880" y="557784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Quizzes</a:t>
            </a:r>
            <a:endParaRPr lang="en-US" sz="1800" dirty="0"/>
          </a:p>
        </p:txBody>
      </p:sp>
      <p:sp>
        <p:nvSpPr>
          <p:cNvPr id="36" name="Shape 21"/>
          <p:cNvSpPr/>
          <p:nvPr/>
        </p:nvSpPr>
        <p:spPr>
          <a:xfrm>
            <a:off x="4480560" y="3749040"/>
            <a:ext cx="457200" cy="457200"/>
          </a:xfrm>
          <a:prstGeom prst="ellipse">
            <a:avLst/>
          </a:prstGeom>
          <a:solidFill>
            <a:srgbClr val="0F766E"/>
          </a:solidFill>
          <a:ln/>
        </p:spPr>
      </p:sp>
      <p:pic>
        <p:nvPicPr>
          <p:cNvPr id="37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604004" y="3872484"/>
            <a:ext cx="210312" cy="210312"/>
          </a:xfrm>
          <a:prstGeom prst="rect">
            <a:avLst/>
          </a:prstGeom>
        </p:spPr>
      </p:pic>
      <p:sp>
        <p:nvSpPr>
          <p:cNvPr id="38" name="Text 22"/>
          <p:cNvSpPr txBox="1"/>
          <p:nvPr/>
        </p:nvSpPr>
        <p:spPr>
          <a:xfrm>
            <a:off x="5166360" y="3657600"/>
            <a:ext cx="3337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Assignments</a:t>
            </a:r>
            <a:endParaRPr lang="en-US" sz="1800" dirty="0"/>
          </a:p>
        </p:txBody>
      </p:sp>
      <p:sp>
        <p:nvSpPr>
          <p:cNvPr id="39" name="Shape 23"/>
          <p:cNvSpPr/>
          <p:nvPr/>
        </p:nvSpPr>
        <p:spPr>
          <a:xfrm>
            <a:off x="4480560" y="4389120"/>
            <a:ext cx="457200" cy="457200"/>
          </a:xfrm>
          <a:prstGeom prst="ellipse">
            <a:avLst/>
          </a:prstGeom>
          <a:solidFill>
            <a:srgbClr val="0F766E"/>
          </a:solidFill>
          <a:ln/>
        </p:spPr>
      </p:sp>
      <p:pic>
        <p:nvPicPr>
          <p:cNvPr id="40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604004" y="4512564"/>
            <a:ext cx="210312" cy="210312"/>
          </a:xfrm>
          <a:prstGeom prst="rect">
            <a:avLst/>
          </a:prstGeom>
        </p:spPr>
      </p:pic>
      <p:sp>
        <p:nvSpPr>
          <p:cNvPr id="41" name="Text 24"/>
          <p:cNvSpPr txBox="1"/>
          <p:nvPr/>
        </p:nvSpPr>
        <p:spPr>
          <a:xfrm>
            <a:off x="5166360" y="4297680"/>
            <a:ext cx="3337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Doubt-solving</a:t>
            </a:r>
            <a:endParaRPr lang="en-US" sz="1800" dirty="0"/>
          </a:p>
        </p:txBody>
      </p:sp>
      <p:sp>
        <p:nvSpPr>
          <p:cNvPr id="42" name="Shape 25"/>
          <p:cNvSpPr/>
          <p:nvPr/>
        </p:nvSpPr>
        <p:spPr>
          <a:xfrm>
            <a:off x="4480560" y="5029200"/>
            <a:ext cx="457200" cy="457200"/>
          </a:xfrm>
          <a:prstGeom prst="ellipse">
            <a:avLst/>
          </a:prstGeom>
          <a:solidFill>
            <a:srgbClr val="0F766E"/>
          </a:solidFill>
          <a:ln/>
        </p:spPr>
      </p:sp>
      <p:pic>
        <p:nvPicPr>
          <p:cNvPr id="43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604004" y="5152644"/>
            <a:ext cx="210312" cy="210312"/>
          </a:xfrm>
          <a:prstGeom prst="rect">
            <a:avLst/>
          </a:prstGeom>
        </p:spPr>
      </p:pic>
      <p:sp>
        <p:nvSpPr>
          <p:cNvPr id="44" name="Text 26"/>
          <p:cNvSpPr txBox="1"/>
          <p:nvPr/>
        </p:nvSpPr>
        <p:spPr>
          <a:xfrm>
            <a:off x="5166360" y="4937760"/>
            <a:ext cx="3337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reports</a:t>
            </a:r>
            <a:endParaRPr lang="en-US" sz="1800" dirty="0"/>
          </a:p>
        </p:txBody>
      </p:sp>
      <p:sp>
        <p:nvSpPr>
          <p:cNvPr id="45" name="Shape 27"/>
          <p:cNvSpPr/>
          <p:nvPr/>
        </p:nvSpPr>
        <p:spPr>
          <a:xfrm>
            <a:off x="4480560" y="5669280"/>
            <a:ext cx="457200" cy="457200"/>
          </a:xfrm>
          <a:prstGeom prst="ellipse">
            <a:avLst/>
          </a:prstGeom>
          <a:solidFill>
            <a:srgbClr val="0F766E"/>
          </a:solidFill>
          <a:ln/>
        </p:spPr>
      </p:sp>
      <p:pic>
        <p:nvPicPr>
          <p:cNvPr id="46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604004" y="5792724"/>
            <a:ext cx="210312" cy="210312"/>
          </a:xfrm>
          <a:prstGeom prst="rect">
            <a:avLst/>
          </a:prstGeom>
        </p:spPr>
      </p:pic>
      <p:sp>
        <p:nvSpPr>
          <p:cNvPr id="47" name="Text 28"/>
          <p:cNvSpPr txBox="1"/>
          <p:nvPr/>
        </p:nvSpPr>
        <p:spPr>
          <a:xfrm>
            <a:off x="5166360" y="5577840"/>
            <a:ext cx="3337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communication</a:t>
            </a:r>
            <a:endParaRPr lang="en-US" sz="1800" dirty="0"/>
          </a:p>
        </p:txBody>
      </p:sp>
      <p:pic>
        <p:nvPicPr>
          <p:cNvPr id="48" name="Image 17" descr="Student attending a live online class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778240" y="3566160"/>
            <a:ext cx="2788920" cy="219456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CA3A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 of e-learning platforms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2011680" cy="4434840"/>
          </a:xfrm>
          <a:prstGeom prst="roundRect">
            <a:avLst>
              <a:gd name="adj" fmla="val 5455"/>
            </a:avLst>
          </a:prstGeom>
          <a:solidFill>
            <a:srgbClr val="ECF5F3"/>
          </a:solidFill>
          <a:ln/>
        </p:spPr>
      </p:sp>
      <p:pic>
        <p:nvPicPr>
          <p:cNvPr id="4" name="Image 0" descr="Vedantu 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756382"/>
            <a:ext cx="1645920" cy="51059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822960" y="2514600"/>
            <a:ext cx="1645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online classes and personalized learning for school students.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822960" y="3703320"/>
            <a:ext cx="1645920" cy="0"/>
          </a:xfrm>
          <a:prstGeom prst="line">
            <a:avLst/>
          </a:prstGeom>
          <a:noFill/>
          <a:ln w="12700">
            <a:solidFill>
              <a:srgbClr val="C9DEDA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22960" y="3840480"/>
            <a:ext cx="16459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interactive classes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material &amp; notes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and practice sessions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doubt solving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2862072" y="1554480"/>
            <a:ext cx="2011680" cy="4434840"/>
          </a:xfrm>
          <a:prstGeom prst="roundRect">
            <a:avLst>
              <a:gd name="adj" fmla="val 5455"/>
            </a:avLst>
          </a:prstGeom>
          <a:solidFill>
            <a:srgbClr val="ECF5F3"/>
          </a:solidFill>
          <a:ln/>
        </p:spPr>
      </p:sp>
      <p:pic>
        <p:nvPicPr>
          <p:cNvPr id="9" name="Image 1" descr="BYJU'S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4952" y="1691640"/>
            <a:ext cx="1361739" cy="64008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3044952" y="2514600"/>
            <a:ext cx="1645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Comprehensive learning app with videos, courses and adaptive learning.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3044952" y="3703320"/>
            <a:ext cx="1645920" cy="0"/>
          </a:xfrm>
          <a:prstGeom prst="line">
            <a:avLst/>
          </a:prstGeom>
          <a:noFill/>
          <a:ln w="12700">
            <a:solidFill>
              <a:srgbClr val="C9DEDA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3044952" y="3840480"/>
            <a:ext cx="16459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video explanations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NCERT solutions &amp; study materials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 tests and assessments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learning path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5084064" y="1554480"/>
            <a:ext cx="2011680" cy="4434840"/>
          </a:xfrm>
          <a:prstGeom prst="roundRect">
            <a:avLst>
              <a:gd name="adj" fmla="val 5455"/>
            </a:avLst>
          </a:prstGeom>
          <a:solidFill>
            <a:srgbClr val="ECF5F3"/>
          </a:solidFill>
          <a:ln/>
        </p:spPr>
      </p:sp>
      <p:pic>
        <p:nvPicPr>
          <p:cNvPr id="14" name="Image 2" descr="Unacademy logo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66944" y="1691640"/>
            <a:ext cx="1319753" cy="64008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5266944" y="2514600"/>
            <a:ext cx="1645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from top educators through live classes and structured courses.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5266944" y="3703320"/>
            <a:ext cx="1645920" cy="0"/>
          </a:xfrm>
          <a:prstGeom prst="line">
            <a:avLst/>
          </a:prstGeom>
          <a:noFill/>
          <a:ln w="12700">
            <a:solidFill>
              <a:srgbClr val="C9DEDA"/>
            </a:solidFill>
            <a:prstDash val="solid"/>
          </a:ln>
        </p:spPr>
      </p:sp>
      <p:sp>
        <p:nvSpPr>
          <p:cNvPr id="17" name="Text 12"/>
          <p:cNvSpPr txBox="1"/>
          <p:nvPr/>
        </p:nvSpPr>
        <p:spPr>
          <a:xfrm>
            <a:off x="5266944" y="3840480"/>
            <a:ext cx="16459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classes by top educators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video courses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quizzes and tests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learning &amp; doubt support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7306056" y="1554480"/>
            <a:ext cx="2011680" cy="4434840"/>
          </a:xfrm>
          <a:prstGeom prst="roundRect">
            <a:avLst>
              <a:gd name="adj" fmla="val 5455"/>
            </a:avLst>
          </a:prstGeom>
          <a:solidFill>
            <a:srgbClr val="ECF5F3"/>
          </a:solidFill>
          <a:ln/>
        </p:spPr>
      </p:sp>
      <p:pic>
        <p:nvPicPr>
          <p:cNvPr id="19" name="Image 3" descr="Zoom logo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88936" y="1691640"/>
            <a:ext cx="897367" cy="640080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7488936" y="2514600"/>
            <a:ext cx="1645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conferencing platform for live classes, meetings and webinars.</a:t>
            </a:r>
            <a:endParaRPr lang="en-US" sz="1400" dirty="0"/>
          </a:p>
        </p:txBody>
      </p:sp>
      <p:sp>
        <p:nvSpPr>
          <p:cNvPr id="21" name="Shape 15"/>
          <p:cNvSpPr/>
          <p:nvPr/>
        </p:nvSpPr>
        <p:spPr>
          <a:xfrm>
            <a:off x="7488936" y="3703320"/>
            <a:ext cx="1645920" cy="0"/>
          </a:xfrm>
          <a:prstGeom prst="line">
            <a:avLst/>
          </a:prstGeom>
          <a:noFill/>
          <a:ln w="12700">
            <a:solidFill>
              <a:srgbClr val="C9DEDA"/>
            </a:solidFill>
            <a:prstDash val="solid"/>
          </a:ln>
        </p:spPr>
      </p:sp>
      <p:sp>
        <p:nvSpPr>
          <p:cNvPr id="22" name="Text 16"/>
          <p:cNvSpPr txBox="1"/>
          <p:nvPr/>
        </p:nvSpPr>
        <p:spPr>
          <a:xfrm>
            <a:off x="7488936" y="3840480"/>
            <a:ext cx="16459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HD video and audio meetings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sharing and whiteboard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sessions for later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Breakout rooms for groups</a:t>
            </a:r>
            <a:endParaRPr lang="en-US" sz="1200" dirty="0"/>
          </a:p>
        </p:txBody>
      </p:sp>
      <p:sp>
        <p:nvSpPr>
          <p:cNvPr id="23" name="Shape 17"/>
          <p:cNvSpPr/>
          <p:nvPr/>
        </p:nvSpPr>
        <p:spPr>
          <a:xfrm>
            <a:off x="9528048" y="1554480"/>
            <a:ext cx="2011680" cy="4434840"/>
          </a:xfrm>
          <a:prstGeom prst="roundRect">
            <a:avLst>
              <a:gd name="adj" fmla="val 5455"/>
            </a:avLst>
          </a:prstGeom>
          <a:solidFill>
            <a:srgbClr val="ECF5F3"/>
          </a:solidFill>
          <a:ln/>
        </p:spPr>
      </p:sp>
      <p:pic>
        <p:nvPicPr>
          <p:cNvPr id="24" name="Image 4" descr="Google Classroom logo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0928" y="1691640"/>
            <a:ext cx="1409299" cy="640080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9710928" y="2514600"/>
            <a:ext cx="1645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tool by Google to manage classes, assignments and communication.</a:t>
            </a:r>
            <a:endParaRPr lang="en-US" sz="1400" dirty="0"/>
          </a:p>
        </p:txBody>
      </p:sp>
      <p:sp>
        <p:nvSpPr>
          <p:cNvPr id="26" name="Shape 19"/>
          <p:cNvSpPr/>
          <p:nvPr/>
        </p:nvSpPr>
        <p:spPr>
          <a:xfrm>
            <a:off x="9710928" y="3703320"/>
            <a:ext cx="1645920" cy="0"/>
          </a:xfrm>
          <a:prstGeom prst="line">
            <a:avLst/>
          </a:prstGeom>
          <a:noFill/>
          <a:ln w="12700">
            <a:solidFill>
              <a:srgbClr val="C9DEDA"/>
            </a:solidFill>
            <a:prstDash val="solid"/>
          </a:ln>
        </p:spPr>
      </p:sp>
      <p:sp>
        <p:nvSpPr>
          <p:cNvPr id="27" name="Text 20"/>
          <p:cNvSpPr txBox="1"/>
          <p:nvPr/>
        </p:nvSpPr>
        <p:spPr>
          <a:xfrm>
            <a:off x="9710928" y="3840480"/>
            <a:ext cx="16459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and manage classes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and collect assignments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Integrates with Google Drive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Communicate and give feedback</a:t>
            </a:r>
            <a:endParaRPr lang="en-US" sz="1200" dirty="0"/>
          </a:p>
        </p:txBody>
      </p:sp>
      <p:sp>
        <p:nvSpPr>
          <p:cNvPr id="28" name="Text 21"/>
          <p:cNvSpPr txBox="1"/>
          <p:nvPr/>
        </p:nvSpPr>
        <p:spPr>
          <a:xfrm>
            <a:off x="640080" y="61264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platforms, one goal: </a:t>
            </a:r>
            <a:pPr indent="0" marL="0">
              <a:buNone/>
            </a:pPr>
            <a:r>
              <a:rPr lang="en-US" sz="16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learning for all.</a:t>
            </a:r>
            <a:pPr indent="0" marL="0">
              <a:buNone/>
            </a:pP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CA3A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23F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1945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8FD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651760"/>
            <a:ext cx="5943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Vedantu</a:t>
            </a:r>
            <a:endParaRPr lang="en-US" sz="8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411480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B7C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e-learning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498080" y="2103120"/>
            <a:ext cx="3931920" cy="246888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/>
        </p:spPr>
      </p:sp>
      <p:pic>
        <p:nvPicPr>
          <p:cNvPr id="6" name="Image 0" descr="Vedantu 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707729"/>
            <a:ext cx="3383280" cy="125966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8961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Vedantu: origin</a:t>
            </a:r>
            <a:endParaRPr lang="en-US" sz="3400" dirty="0"/>
          </a:p>
        </p:txBody>
      </p:sp>
      <p:pic>
        <p:nvPicPr>
          <p:cNvPr id="3" name="Image 0" descr="Vedantu 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29800" y="357459"/>
            <a:ext cx="1737360" cy="711547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40080" y="1691640"/>
            <a:ext cx="530352" cy="530352"/>
          </a:xfrm>
          <a:prstGeom prst="ellipse">
            <a:avLst/>
          </a:prstGeom>
          <a:solidFill>
            <a:srgbClr val="0F766E"/>
          </a:solidFill>
          <a:ln/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3275" y="1834835"/>
            <a:ext cx="243962" cy="243962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1399032" y="1508760"/>
            <a:ext cx="646480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Founded in </a:t>
            </a:r>
            <a:pPr indent="0" marL="0">
              <a:buNone/>
            </a:pPr>
            <a:r>
              <a:rPr lang="en-US" sz="18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2011</a:t>
            </a:r>
            <a:pPr indent="0" marL="0">
              <a:buNone/>
            </a:pPr>
            <a:r>
              <a:rPr lang="en-US" sz="18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by Vamsi Krishna, Pulkit Jain, Anand Prakash, and Saurabh Saxena.</a:t>
            </a:r>
            <a:endParaRPr lang="en-US" sz="1800" dirty="0"/>
          </a:p>
        </p:txBody>
      </p:sp>
      <p:sp>
        <p:nvSpPr>
          <p:cNvPr id="7" name="Shape 3"/>
          <p:cNvSpPr/>
          <p:nvPr/>
        </p:nvSpPr>
        <p:spPr>
          <a:xfrm>
            <a:off x="640080" y="2587752"/>
            <a:ext cx="530352" cy="530352"/>
          </a:xfrm>
          <a:prstGeom prst="ellipse">
            <a:avLst/>
          </a:prstGeom>
          <a:solidFill>
            <a:srgbClr val="0F766E"/>
          </a:solidFill>
          <a:ln/>
        </p:spPr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3275" y="2730947"/>
            <a:ext cx="243962" cy="243962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1399032" y="2404872"/>
            <a:ext cx="646480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Started as an </a:t>
            </a:r>
            <a:pPr indent="0" marL="0">
              <a:buNone/>
            </a:pPr>
            <a:r>
              <a:rPr lang="en-US" sz="18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tutoring/education platform.</a:t>
            </a:r>
            <a:endParaRPr lang="en-US" sz="1800" dirty="0"/>
          </a:p>
        </p:txBody>
      </p:sp>
      <p:sp>
        <p:nvSpPr>
          <p:cNvPr id="10" name="Shape 5"/>
          <p:cNvSpPr/>
          <p:nvPr/>
        </p:nvSpPr>
        <p:spPr>
          <a:xfrm>
            <a:off x="640080" y="3483864"/>
            <a:ext cx="530352" cy="530352"/>
          </a:xfrm>
          <a:prstGeom prst="ellipse">
            <a:avLst/>
          </a:prstGeom>
          <a:solidFill>
            <a:srgbClr val="0F766E"/>
          </a:solidFill>
          <a:ln/>
        </p:spPr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3275" y="3627059"/>
            <a:ext cx="243962" cy="243962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1399032" y="3300984"/>
            <a:ext cx="646480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in </a:t>
            </a:r>
            <a:pPr indent="0" marL="0">
              <a:buNone/>
            </a:pPr>
            <a:r>
              <a:rPr lang="en-US" sz="18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Bengaluru, India.</a:t>
            </a:r>
            <a:endParaRPr lang="en-US" sz="1800" dirty="0"/>
          </a:p>
        </p:txBody>
      </p:sp>
      <p:sp>
        <p:nvSpPr>
          <p:cNvPr id="13" name="Shape 7"/>
          <p:cNvSpPr/>
          <p:nvPr/>
        </p:nvSpPr>
        <p:spPr>
          <a:xfrm>
            <a:off x="640080" y="4379976"/>
            <a:ext cx="530352" cy="530352"/>
          </a:xfrm>
          <a:prstGeom prst="ellipse">
            <a:avLst/>
          </a:prstGeom>
          <a:solidFill>
            <a:srgbClr val="0F766E"/>
          </a:solidFill>
          <a:ln/>
        </p:spPr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3275" y="4523171"/>
            <a:ext cx="243962" cy="243962"/>
          </a:xfrm>
          <a:prstGeom prst="rect">
            <a:avLst/>
          </a:prstGeom>
        </p:spPr>
      </p:pic>
      <p:sp>
        <p:nvSpPr>
          <p:cNvPr id="15" name="Text 8"/>
          <p:cNvSpPr txBox="1"/>
          <p:nvPr/>
        </p:nvSpPr>
        <p:spPr>
          <a:xfrm>
            <a:off x="1399032" y="4197096"/>
            <a:ext cx="646480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name comes from </a:t>
            </a:r>
            <a:pPr indent="0" marL="0">
              <a:buNone/>
            </a:pPr>
            <a:r>
              <a:rPr lang="en-US" sz="18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Veda + Tantu,</a:t>
            </a:r>
            <a:pPr indent="0" marL="0">
              <a:buNone/>
            </a:pPr>
            <a:r>
              <a:rPr lang="en-US" sz="18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meaning "knowledge network."</a:t>
            </a:r>
            <a:endParaRPr lang="en-US" sz="1800" dirty="0"/>
          </a:p>
        </p:txBody>
      </p:sp>
      <p:sp>
        <p:nvSpPr>
          <p:cNvPr id="16" name="Shape 9"/>
          <p:cNvSpPr/>
          <p:nvPr/>
        </p:nvSpPr>
        <p:spPr>
          <a:xfrm>
            <a:off x="640080" y="5276088"/>
            <a:ext cx="530352" cy="530352"/>
          </a:xfrm>
          <a:prstGeom prst="ellipse">
            <a:avLst/>
          </a:prstGeom>
          <a:solidFill>
            <a:srgbClr val="0F766E"/>
          </a:solidFill>
          <a:ln/>
        </p:spPr>
      </p:sp>
      <p:pic>
        <p:nvPicPr>
          <p:cNvPr id="1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3275" y="5419283"/>
            <a:ext cx="243962" cy="243962"/>
          </a:xfrm>
          <a:prstGeom prst="rect">
            <a:avLst/>
          </a:prstGeom>
        </p:spPr>
      </p:pic>
      <p:sp>
        <p:nvSpPr>
          <p:cNvPr id="18" name="Text 10"/>
          <p:cNvSpPr txBox="1"/>
          <p:nvPr/>
        </p:nvSpPr>
        <p:spPr>
          <a:xfrm>
            <a:off x="1399032" y="5093208"/>
            <a:ext cx="646480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aims to </a:t>
            </a:r>
            <a:pPr indent="0" marL="0">
              <a:buNone/>
            </a:pPr>
            <a:r>
              <a:rPr lang="en-US" sz="18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students with teachers</a:t>
            </a:r>
            <a:pPr indent="0" marL="0">
              <a:buNone/>
            </a:pPr>
            <a:r>
              <a:rPr lang="en-US" sz="18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through online learning.</a:t>
            </a:r>
            <a:endParaRPr lang="en-US" sz="1800" dirty="0"/>
          </a:p>
        </p:txBody>
      </p:sp>
      <p:pic>
        <p:nvPicPr>
          <p:cNvPr id="19" name="Image 6" descr="Laptop showing the Vedantu platform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12480" y="1508760"/>
            <a:ext cx="3154680" cy="1828800"/>
          </a:xfrm>
          <a:prstGeom prst="rect">
            <a:avLst/>
          </a:prstGeom>
        </p:spPr>
      </p:pic>
      <p:sp>
        <p:nvSpPr>
          <p:cNvPr id="20" name="Shape 11"/>
          <p:cNvSpPr/>
          <p:nvPr/>
        </p:nvSpPr>
        <p:spPr>
          <a:xfrm>
            <a:off x="8412480" y="3520440"/>
            <a:ext cx="3154680" cy="2468880"/>
          </a:xfrm>
          <a:prstGeom prst="roundRect">
            <a:avLst>
              <a:gd name="adj" fmla="val 4444"/>
            </a:avLst>
          </a:prstGeom>
          <a:solidFill>
            <a:srgbClr val="ECF5F3"/>
          </a:solidFill>
          <a:ln/>
        </p:spPr>
      </p:sp>
      <p:sp>
        <p:nvSpPr>
          <p:cNvPr id="21" name="Text 12"/>
          <p:cNvSpPr txBox="1"/>
          <p:nvPr/>
        </p:nvSpPr>
        <p:spPr>
          <a:xfrm>
            <a:off x="8412480" y="3611880"/>
            <a:ext cx="3154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2011</a:t>
            </a:r>
            <a:endParaRPr lang="en-US" sz="5400" dirty="0"/>
          </a:p>
        </p:txBody>
      </p:sp>
      <p:sp>
        <p:nvSpPr>
          <p:cNvPr id="22" name="Text 13"/>
          <p:cNvSpPr txBox="1"/>
          <p:nvPr/>
        </p:nvSpPr>
        <p:spPr>
          <a:xfrm>
            <a:off x="8412480" y="461772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Founded</a:t>
            </a:r>
            <a:endParaRPr lang="en-US" sz="1400" dirty="0"/>
          </a:p>
        </p:txBody>
      </p:sp>
      <p:sp>
        <p:nvSpPr>
          <p:cNvPr id="23" name="Text 14"/>
          <p:cNvSpPr txBox="1"/>
          <p:nvPr/>
        </p:nvSpPr>
        <p:spPr>
          <a:xfrm>
            <a:off x="8412480" y="502920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Bengaluru, India</a:t>
            </a:r>
            <a:endParaRPr lang="en-US" sz="2000" dirty="0"/>
          </a:p>
        </p:txBody>
      </p:sp>
      <p:sp>
        <p:nvSpPr>
          <p:cNvPr id="24" name="Text 15"/>
          <p:cNvSpPr txBox="1"/>
          <p:nvPr/>
        </p:nvSpPr>
        <p:spPr>
          <a:xfrm>
            <a:off x="8412480" y="548640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| Practice | Excel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CA3A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8961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Problems identified</a:t>
            </a:r>
            <a:endParaRPr lang="en-US" sz="3400" dirty="0"/>
          </a:p>
        </p:txBody>
      </p:sp>
      <p:pic>
        <p:nvPicPr>
          <p:cNvPr id="3" name="Image 0" descr="Vedantu 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29800" y="357459"/>
            <a:ext cx="1737360" cy="711547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40080" y="1554480"/>
            <a:ext cx="5303520" cy="1325880"/>
          </a:xfrm>
          <a:prstGeom prst="roundRect">
            <a:avLst>
              <a:gd name="adj" fmla="val 8276"/>
            </a:avLst>
          </a:prstGeom>
          <a:solidFill>
            <a:srgbClr val="ECF5F3"/>
          </a:solidFill>
          <a:ln/>
        </p:spPr>
      </p:sp>
      <p:sp>
        <p:nvSpPr>
          <p:cNvPr id="5" name="Shape 2"/>
          <p:cNvSpPr/>
          <p:nvPr/>
        </p:nvSpPr>
        <p:spPr>
          <a:xfrm>
            <a:off x="914400" y="1901952"/>
            <a:ext cx="640080" cy="640080"/>
          </a:xfrm>
          <a:prstGeom prst="ellipse">
            <a:avLst/>
          </a:prstGeom>
          <a:solidFill>
            <a:srgbClr val="0F766E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7222" y="2074774"/>
            <a:ext cx="294437" cy="294437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783080" y="1554480"/>
            <a:ext cx="39319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may not have access to </a:t>
            </a:r>
            <a:pPr indent="0" marL="0">
              <a:buNone/>
            </a:pPr>
            <a:r>
              <a:rPr lang="en-US" sz="17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experienced teachers</a:t>
            </a:r>
            <a:pPr indent="0" marL="0">
              <a:buNone/>
            </a:pPr>
            <a:r>
              <a:rPr lang="en-US" sz="17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 their local area.</a:t>
            </a:r>
            <a:endParaRPr lang="en-US" sz="1700" dirty="0"/>
          </a:p>
        </p:txBody>
      </p:sp>
      <p:sp>
        <p:nvSpPr>
          <p:cNvPr id="8" name="Shape 4"/>
          <p:cNvSpPr/>
          <p:nvPr/>
        </p:nvSpPr>
        <p:spPr>
          <a:xfrm>
            <a:off x="6217920" y="1554480"/>
            <a:ext cx="5303520" cy="1325880"/>
          </a:xfrm>
          <a:prstGeom prst="roundRect">
            <a:avLst>
              <a:gd name="adj" fmla="val 8276"/>
            </a:avLst>
          </a:prstGeom>
          <a:solidFill>
            <a:srgbClr val="ECF5F3"/>
          </a:solidFill>
          <a:ln/>
        </p:spPr>
      </p:sp>
      <p:sp>
        <p:nvSpPr>
          <p:cNvPr id="9" name="Shape 5"/>
          <p:cNvSpPr/>
          <p:nvPr/>
        </p:nvSpPr>
        <p:spPr>
          <a:xfrm>
            <a:off x="6492240" y="1901952"/>
            <a:ext cx="640080" cy="640080"/>
          </a:xfrm>
          <a:prstGeom prst="ellipse">
            <a:avLst/>
          </a:prstGeom>
          <a:solidFill>
            <a:srgbClr val="0F766E"/>
          </a:solidFill>
          <a:ln/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5062" y="2074774"/>
            <a:ext cx="294437" cy="294437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7360920" y="1554480"/>
            <a:ext cx="39319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classrooms can make </a:t>
            </a:r>
            <a:pPr indent="0" marL="0">
              <a:buNone/>
            </a:pPr>
            <a:r>
              <a:rPr lang="en-US" sz="17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attention</a:t>
            </a:r>
            <a:pPr indent="0" marL="0">
              <a:buNone/>
            </a:pPr>
            <a:r>
              <a:rPr lang="en-US" sz="17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difficult.</a:t>
            </a:r>
            <a:endParaRPr lang="en-US" sz="1700" dirty="0"/>
          </a:p>
        </p:txBody>
      </p:sp>
      <p:sp>
        <p:nvSpPr>
          <p:cNvPr id="12" name="Shape 7"/>
          <p:cNvSpPr/>
          <p:nvPr/>
        </p:nvSpPr>
        <p:spPr>
          <a:xfrm>
            <a:off x="640080" y="3108960"/>
            <a:ext cx="5303520" cy="1325880"/>
          </a:xfrm>
          <a:prstGeom prst="roundRect">
            <a:avLst>
              <a:gd name="adj" fmla="val 8276"/>
            </a:avLst>
          </a:prstGeom>
          <a:solidFill>
            <a:srgbClr val="ECF5F3"/>
          </a:solidFill>
          <a:ln/>
        </p:spPr>
      </p:sp>
      <p:sp>
        <p:nvSpPr>
          <p:cNvPr id="13" name="Shape 8"/>
          <p:cNvSpPr/>
          <p:nvPr/>
        </p:nvSpPr>
        <p:spPr>
          <a:xfrm>
            <a:off x="914400" y="3456432"/>
            <a:ext cx="640080" cy="640080"/>
          </a:xfrm>
          <a:prstGeom prst="ellipse">
            <a:avLst/>
          </a:prstGeom>
          <a:solidFill>
            <a:srgbClr val="0F766E"/>
          </a:solidFill>
          <a:ln/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7222" y="3629254"/>
            <a:ext cx="294437" cy="294437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1783080" y="3108960"/>
            <a:ext cx="39319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have different </a:t>
            </a:r>
            <a:pPr indent="0" marL="0">
              <a:buNone/>
            </a:pPr>
            <a:r>
              <a:rPr lang="en-US" sz="17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speeds</a:t>
            </a:r>
            <a:pPr indent="0" marL="0">
              <a:buNone/>
            </a:pPr>
            <a:r>
              <a:rPr lang="en-US" sz="17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needs.</a:t>
            </a:r>
            <a:endParaRPr lang="en-US" sz="1700" dirty="0"/>
          </a:p>
        </p:txBody>
      </p:sp>
      <p:sp>
        <p:nvSpPr>
          <p:cNvPr id="16" name="Shape 10"/>
          <p:cNvSpPr/>
          <p:nvPr/>
        </p:nvSpPr>
        <p:spPr>
          <a:xfrm>
            <a:off x="6217920" y="3108960"/>
            <a:ext cx="5303520" cy="1325880"/>
          </a:xfrm>
          <a:prstGeom prst="roundRect">
            <a:avLst>
              <a:gd name="adj" fmla="val 8276"/>
            </a:avLst>
          </a:prstGeom>
          <a:solidFill>
            <a:srgbClr val="ECF5F3"/>
          </a:solidFill>
          <a:ln/>
        </p:spPr>
      </p:sp>
      <p:sp>
        <p:nvSpPr>
          <p:cNvPr id="17" name="Shape 11"/>
          <p:cNvSpPr/>
          <p:nvPr/>
        </p:nvSpPr>
        <p:spPr>
          <a:xfrm>
            <a:off x="6492240" y="3456432"/>
            <a:ext cx="640080" cy="640080"/>
          </a:xfrm>
          <a:prstGeom prst="ellipse">
            <a:avLst/>
          </a:prstGeom>
          <a:solidFill>
            <a:srgbClr val="0F766E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65062" y="3629254"/>
            <a:ext cx="294437" cy="294437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7360920" y="3108960"/>
            <a:ext cx="39319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Travelling to coaching centres </a:t>
            </a:r>
            <a:pPr indent="0" marL="0">
              <a:buNone/>
            </a:pPr>
            <a:r>
              <a:rPr lang="en-US" sz="17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takes time.</a:t>
            </a:r>
            <a:endParaRPr lang="en-US" sz="1700" dirty="0"/>
          </a:p>
        </p:txBody>
      </p:sp>
      <p:sp>
        <p:nvSpPr>
          <p:cNvPr id="20" name="Shape 13"/>
          <p:cNvSpPr/>
          <p:nvPr/>
        </p:nvSpPr>
        <p:spPr>
          <a:xfrm>
            <a:off x="640080" y="4663440"/>
            <a:ext cx="5303520" cy="1325880"/>
          </a:xfrm>
          <a:prstGeom prst="roundRect">
            <a:avLst>
              <a:gd name="adj" fmla="val 8276"/>
            </a:avLst>
          </a:prstGeom>
          <a:solidFill>
            <a:srgbClr val="ECF5F3"/>
          </a:solidFill>
          <a:ln/>
        </p:spPr>
      </p:sp>
      <p:sp>
        <p:nvSpPr>
          <p:cNvPr id="21" name="Shape 14"/>
          <p:cNvSpPr/>
          <p:nvPr/>
        </p:nvSpPr>
        <p:spPr>
          <a:xfrm>
            <a:off x="914400" y="5010912"/>
            <a:ext cx="640080" cy="640080"/>
          </a:xfrm>
          <a:prstGeom prst="ellipse">
            <a:avLst/>
          </a:prstGeom>
          <a:solidFill>
            <a:srgbClr val="0F766E"/>
          </a:solidFill>
          <a:ln/>
        </p:spPr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87222" y="5183734"/>
            <a:ext cx="294437" cy="294437"/>
          </a:xfrm>
          <a:prstGeom prst="rect">
            <a:avLst/>
          </a:prstGeom>
        </p:spPr>
      </p:pic>
      <p:sp>
        <p:nvSpPr>
          <p:cNvPr id="23" name="Text 15"/>
          <p:cNvSpPr txBox="1"/>
          <p:nvPr/>
        </p:nvSpPr>
        <p:spPr>
          <a:xfrm>
            <a:off x="1783080" y="4663440"/>
            <a:ext cx="39319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Educational resources may not be </a:t>
            </a:r>
            <a:pPr indent="0" marL="0">
              <a:buNone/>
            </a:pPr>
            <a:r>
              <a:rPr lang="en-US" sz="17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equally available</a:t>
            </a:r>
            <a:pPr indent="0" marL="0">
              <a:buNone/>
            </a:pPr>
            <a:r>
              <a:rPr lang="en-US" sz="17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everywhere.</a:t>
            </a:r>
            <a:endParaRPr lang="en-US" sz="1700" dirty="0"/>
          </a:p>
        </p:txBody>
      </p:sp>
      <p:sp>
        <p:nvSpPr>
          <p:cNvPr id="24" name="Shape 16"/>
          <p:cNvSpPr/>
          <p:nvPr/>
        </p:nvSpPr>
        <p:spPr>
          <a:xfrm>
            <a:off x="6217920" y="4663440"/>
            <a:ext cx="5303520" cy="1325880"/>
          </a:xfrm>
          <a:prstGeom prst="roundRect">
            <a:avLst>
              <a:gd name="adj" fmla="val 8276"/>
            </a:avLst>
          </a:prstGeom>
          <a:solidFill>
            <a:srgbClr val="ECF5F3"/>
          </a:solidFill>
          <a:ln/>
        </p:spPr>
      </p:sp>
      <p:sp>
        <p:nvSpPr>
          <p:cNvPr id="25" name="Shape 17"/>
          <p:cNvSpPr/>
          <p:nvPr/>
        </p:nvSpPr>
        <p:spPr>
          <a:xfrm>
            <a:off x="6492240" y="5010912"/>
            <a:ext cx="640080" cy="640080"/>
          </a:xfrm>
          <a:prstGeom prst="ellipse">
            <a:avLst/>
          </a:prstGeom>
          <a:solidFill>
            <a:srgbClr val="0F766E"/>
          </a:solidFill>
          <a:ln/>
        </p:spPr>
      </p:sp>
      <p:pic>
        <p:nvPicPr>
          <p:cNvPr id="2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65062" y="5183734"/>
            <a:ext cx="294437" cy="294437"/>
          </a:xfrm>
          <a:prstGeom prst="rect">
            <a:avLst/>
          </a:prstGeom>
        </p:spPr>
      </p:pic>
      <p:sp>
        <p:nvSpPr>
          <p:cNvPr id="27" name="Text 18"/>
          <p:cNvSpPr txBox="1"/>
          <p:nvPr/>
        </p:nvSpPr>
        <p:spPr>
          <a:xfrm>
            <a:off x="7360920" y="4663440"/>
            <a:ext cx="39319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need convenient ways to </a:t>
            </a:r>
            <a:pPr indent="0" marL="0">
              <a:buNone/>
            </a:pPr>
            <a:r>
              <a:rPr lang="en-US" sz="17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questions</a:t>
            </a:r>
            <a:pPr indent="0" marL="0">
              <a:buNone/>
            </a:pPr>
            <a:r>
              <a:rPr lang="en-US" sz="17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clear doubts.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CA3A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8961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Vedantu's solution</a:t>
            </a:r>
            <a:endParaRPr lang="en-US" sz="3400" dirty="0"/>
          </a:p>
        </p:txBody>
      </p:sp>
      <p:pic>
        <p:nvPicPr>
          <p:cNvPr id="3" name="Image 0" descr="Vedantu 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29800" y="357459"/>
            <a:ext cx="1737360" cy="711547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40080" y="1554480"/>
            <a:ext cx="3520440" cy="2194560"/>
          </a:xfrm>
          <a:prstGeom prst="roundRect">
            <a:avLst>
              <a:gd name="adj" fmla="val 5000"/>
            </a:avLst>
          </a:prstGeom>
          <a:solidFill>
            <a:srgbClr val="ECF5F3"/>
          </a:solidFill>
          <a:ln/>
        </p:spPr>
      </p:sp>
      <p:sp>
        <p:nvSpPr>
          <p:cNvPr id="5" name="Shape 2"/>
          <p:cNvSpPr/>
          <p:nvPr/>
        </p:nvSpPr>
        <p:spPr>
          <a:xfrm>
            <a:off x="914400" y="1828800"/>
            <a:ext cx="594360" cy="594360"/>
          </a:xfrm>
          <a:prstGeom prst="ellipse">
            <a:avLst/>
          </a:prstGeom>
          <a:solidFill>
            <a:srgbClr val="0F766E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4877" y="1989277"/>
            <a:ext cx="273406" cy="273406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914400" y="2560320"/>
            <a:ext cx="2971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interactive classes</a:t>
            </a:r>
            <a:pPr indent="0" marL="0">
              <a:buNone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connect teachers and students in real time.</a:t>
            </a:r>
            <a:endParaRPr lang="en-US" sz="1600" dirty="0"/>
          </a:p>
        </p:txBody>
      </p:sp>
      <p:sp>
        <p:nvSpPr>
          <p:cNvPr id="8" name="Shape 4"/>
          <p:cNvSpPr/>
          <p:nvPr/>
        </p:nvSpPr>
        <p:spPr>
          <a:xfrm>
            <a:off x="4334256" y="1554480"/>
            <a:ext cx="3520440" cy="2194560"/>
          </a:xfrm>
          <a:prstGeom prst="roundRect">
            <a:avLst>
              <a:gd name="adj" fmla="val 5000"/>
            </a:avLst>
          </a:prstGeom>
          <a:solidFill>
            <a:srgbClr val="ECF5F3"/>
          </a:solidFill>
          <a:ln/>
        </p:spPr>
      </p:sp>
      <p:sp>
        <p:nvSpPr>
          <p:cNvPr id="9" name="Shape 5"/>
          <p:cNvSpPr/>
          <p:nvPr/>
        </p:nvSpPr>
        <p:spPr>
          <a:xfrm>
            <a:off x="4608576" y="1828800"/>
            <a:ext cx="594360" cy="594360"/>
          </a:xfrm>
          <a:prstGeom prst="ellipse">
            <a:avLst/>
          </a:prstGeom>
          <a:solidFill>
            <a:srgbClr val="0F766E"/>
          </a:solidFill>
          <a:ln/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9053" y="1989277"/>
            <a:ext cx="273406" cy="273406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4608576" y="2560320"/>
            <a:ext cx="2971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can </a:t>
            </a:r>
            <a:pPr indent="0" marL="0">
              <a:buNone/>
            </a:pPr>
            <a:r>
              <a:rPr lang="en-US" sz="16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questions</a:t>
            </a:r>
            <a:pPr indent="0" marL="0">
              <a:buNone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clear doubts during learning.</a:t>
            </a:r>
            <a:endParaRPr lang="en-US" sz="1600" dirty="0"/>
          </a:p>
        </p:txBody>
      </p:sp>
      <p:sp>
        <p:nvSpPr>
          <p:cNvPr id="12" name="Shape 7"/>
          <p:cNvSpPr/>
          <p:nvPr/>
        </p:nvSpPr>
        <p:spPr>
          <a:xfrm>
            <a:off x="8028432" y="1554480"/>
            <a:ext cx="3520440" cy="2194560"/>
          </a:xfrm>
          <a:prstGeom prst="roundRect">
            <a:avLst>
              <a:gd name="adj" fmla="val 5000"/>
            </a:avLst>
          </a:prstGeom>
          <a:solidFill>
            <a:srgbClr val="ECF5F3"/>
          </a:solidFill>
          <a:ln/>
        </p:spPr>
      </p:sp>
      <p:sp>
        <p:nvSpPr>
          <p:cNvPr id="13" name="Shape 8"/>
          <p:cNvSpPr/>
          <p:nvPr/>
        </p:nvSpPr>
        <p:spPr>
          <a:xfrm>
            <a:off x="8302752" y="1828800"/>
            <a:ext cx="594360" cy="594360"/>
          </a:xfrm>
          <a:prstGeom prst="ellipse">
            <a:avLst/>
          </a:prstGeom>
          <a:solidFill>
            <a:srgbClr val="0F766E"/>
          </a:solidFill>
          <a:ln/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63229" y="1989277"/>
            <a:ext cx="273406" cy="273406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8302752" y="2560320"/>
            <a:ext cx="2971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 can be accessed using </a:t>
            </a:r>
            <a:pPr indent="0" marL="0">
              <a:buNone/>
            </a:pPr>
            <a:r>
              <a:rPr lang="en-US" sz="16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smartphones, tablets,</a:t>
            </a:r>
            <a:pPr indent="0" marL="0">
              <a:buNone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or </a:t>
            </a:r>
            <a:pPr indent="0" marL="0">
              <a:buNone/>
            </a:pPr>
            <a:r>
              <a:rPr lang="en-US" sz="16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computers.</a:t>
            </a:r>
            <a:endParaRPr lang="en-US" sz="1600" dirty="0"/>
          </a:p>
        </p:txBody>
      </p:sp>
      <p:sp>
        <p:nvSpPr>
          <p:cNvPr id="16" name="Shape 10"/>
          <p:cNvSpPr/>
          <p:nvPr/>
        </p:nvSpPr>
        <p:spPr>
          <a:xfrm>
            <a:off x="640080" y="3931920"/>
            <a:ext cx="3520440" cy="2194560"/>
          </a:xfrm>
          <a:prstGeom prst="roundRect">
            <a:avLst>
              <a:gd name="adj" fmla="val 5000"/>
            </a:avLst>
          </a:prstGeom>
          <a:solidFill>
            <a:srgbClr val="ECF5F3"/>
          </a:solidFill>
          <a:ln/>
        </p:spPr>
      </p:sp>
      <p:sp>
        <p:nvSpPr>
          <p:cNvPr id="17" name="Shape 11"/>
          <p:cNvSpPr/>
          <p:nvPr/>
        </p:nvSpPr>
        <p:spPr>
          <a:xfrm>
            <a:off x="914400" y="4206240"/>
            <a:ext cx="594360" cy="594360"/>
          </a:xfrm>
          <a:prstGeom prst="ellipse">
            <a:avLst/>
          </a:prstGeom>
          <a:solidFill>
            <a:srgbClr val="0F766E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4877" y="4366717"/>
            <a:ext cx="273406" cy="273406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914400" y="4937760"/>
            <a:ext cx="2971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Recorded lessons</a:t>
            </a:r>
            <a:pPr indent="0" marL="0">
              <a:buNone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can be used for revision.</a:t>
            </a:r>
            <a:endParaRPr lang="en-US" sz="1600" dirty="0"/>
          </a:p>
        </p:txBody>
      </p:sp>
      <p:sp>
        <p:nvSpPr>
          <p:cNvPr id="20" name="Shape 13"/>
          <p:cNvSpPr/>
          <p:nvPr/>
        </p:nvSpPr>
        <p:spPr>
          <a:xfrm>
            <a:off x="4334256" y="3931920"/>
            <a:ext cx="3520440" cy="2194560"/>
          </a:xfrm>
          <a:prstGeom prst="roundRect">
            <a:avLst>
              <a:gd name="adj" fmla="val 5000"/>
            </a:avLst>
          </a:prstGeom>
          <a:solidFill>
            <a:srgbClr val="ECF5F3"/>
          </a:solidFill>
          <a:ln/>
        </p:spPr>
      </p:sp>
      <p:sp>
        <p:nvSpPr>
          <p:cNvPr id="21" name="Shape 14"/>
          <p:cNvSpPr/>
          <p:nvPr/>
        </p:nvSpPr>
        <p:spPr>
          <a:xfrm>
            <a:off x="4608576" y="4206240"/>
            <a:ext cx="594360" cy="594360"/>
          </a:xfrm>
          <a:prstGeom prst="ellipse">
            <a:avLst/>
          </a:prstGeom>
          <a:solidFill>
            <a:srgbClr val="0F766E"/>
          </a:solidFill>
          <a:ln/>
        </p:spPr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69053" y="4366717"/>
            <a:ext cx="273406" cy="273406"/>
          </a:xfrm>
          <a:prstGeom prst="rect">
            <a:avLst/>
          </a:prstGeom>
        </p:spPr>
      </p:pic>
      <p:sp>
        <p:nvSpPr>
          <p:cNvPr id="23" name="Text 15"/>
          <p:cNvSpPr txBox="1"/>
          <p:nvPr/>
        </p:nvSpPr>
        <p:spPr>
          <a:xfrm>
            <a:off x="4608576" y="4937760"/>
            <a:ext cx="2971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Quizzes, assignments, practice tests,</a:t>
            </a:r>
            <a:pPr indent="0" marL="0">
              <a:buNone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</a:t>
            </a:r>
            <a:pPr indent="0" marL="0">
              <a:buNone/>
            </a:pPr>
            <a:r>
              <a:rPr lang="en-US" sz="16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materials</a:t>
            </a:r>
            <a:pPr indent="0" marL="0">
              <a:buNone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support learning.</a:t>
            </a:r>
            <a:endParaRPr lang="en-US" sz="1600" dirty="0"/>
          </a:p>
        </p:txBody>
      </p:sp>
      <p:sp>
        <p:nvSpPr>
          <p:cNvPr id="24" name="Shape 16"/>
          <p:cNvSpPr/>
          <p:nvPr/>
        </p:nvSpPr>
        <p:spPr>
          <a:xfrm>
            <a:off x="8028432" y="3931920"/>
            <a:ext cx="3520440" cy="2194560"/>
          </a:xfrm>
          <a:prstGeom prst="roundRect">
            <a:avLst>
              <a:gd name="adj" fmla="val 5000"/>
            </a:avLst>
          </a:prstGeom>
          <a:solidFill>
            <a:srgbClr val="ECF5F3"/>
          </a:solidFill>
          <a:ln/>
        </p:spPr>
      </p:sp>
      <p:sp>
        <p:nvSpPr>
          <p:cNvPr id="25" name="Shape 17"/>
          <p:cNvSpPr/>
          <p:nvPr/>
        </p:nvSpPr>
        <p:spPr>
          <a:xfrm>
            <a:off x="8302752" y="4206240"/>
            <a:ext cx="594360" cy="594360"/>
          </a:xfrm>
          <a:prstGeom prst="ellipse">
            <a:avLst/>
          </a:prstGeom>
          <a:solidFill>
            <a:srgbClr val="0F766E"/>
          </a:solidFill>
          <a:ln/>
        </p:spPr>
      </p:sp>
      <p:pic>
        <p:nvPicPr>
          <p:cNvPr id="2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63229" y="4366717"/>
            <a:ext cx="273406" cy="273406"/>
          </a:xfrm>
          <a:prstGeom prst="rect">
            <a:avLst/>
          </a:prstGeom>
        </p:spPr>
      </p:pic>
      <p:sp>
        <p:nvSpPr>
          <p:cNvPr id="27" name="Text 18"/>
          <p:cNvSpPr txBox="1"/>
          <p:nvPr/>
        </p:nvSpPr>
        <p:spPr>
          <a:xfrm>
            <a:off x="8302752" y="4937760"/>
            <a:ext cx="2971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Vedantu also provides both </a:t>
            </a:r>
            <a:pPr indent="0" marL="0">
              <a:buNone/>
            </a:pPr>
            <a:r>
              <a:rPr lang="en-US" sz="16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and offline</a:t>
            </a:r>
            <a:pPr indent="0" marL="0">
              <a:buNone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learning options.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CA3A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8961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used</a:t>
            </a:r>
            <a:endParaRPr lang="en-US" sz="3400" dirty="0"/>
          </a:p>
        </p:txBody>
      </p:sp>
      <p:pic>
        <p:nvPicPr>
          <p:cNvPr id="3" name="Image 0" descr="Vedantu 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29800" y="357459"/>
            <a:ext cx="1737360" cy="711547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40080" y="1709928"/>
            <a:ext cx="512064" cy="512064"/>
          </a:xfrm>
          <a:prstGeom prst="ellipse">
            <a:avLst/>
          </a:prstGeom>
          <a:solidFill>
            <a:srgbClr val="0F766E"/>
          </a:solidFill>
          <a:ln/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8337" y="1848185"/>
            <a:ext cx="235549" cy="235549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1380744" y="1508760"/>
            <a:ext cx="67574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Vedantu developed its technology around </a:t>
            </a:r>
            <a:pPr indent="0" marL="0">
              <a:buNone/>
            </a:pPr>
            <a:r>
              <a:rPr lang="en-US" sz="16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online learning.</a:t>
            </a:r>
            <a:endParaRPr lang="en-US" sz="1600" dirty="0"/>
          </a:p>
        </p:txBody>
      </p:sp>
      <p:sp>
        <p:nvSpPr>
          <p:cNvPr id="7" name="Shape 3"/>
          <p:cNvSpPr/>
          <p:nvPr/>
        </p:nvSpPr>
        <p:spPr>
          <a:xfrm>
            <a:off x="640080" y="2624328"/>
            <a:ext cx="512064" cy="512064"/>
          </a:xfrm>
          <a:prstGeom prst="ellipse">
            <a:avLst/>
          </a:prstGeom>
          <a:solidFill>
            <a:srgbClr val="0F766E"/>
          </a:solidFill>
          <a:ln/>
        </p:spPr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8337" y="2762585"/>
            <a:ext cx="235549" cy="235549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1380744" y="2423160"/>
            <a:ext cx="67574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 </a:t>
            </a:r>
            <a:pPr indent="0" marL="0">
              <a:buNone/>
            </a:pPr>
            <a:r>
              <a:rPr lang="en-US" sz="16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 platform</a:t>
            </a:r>
            <a:pPr indent="0" marL="0">
              <a:buNone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designed to make online classes more interactive.</a:t>
            </a:r>
            <a:endParaRPr lang="en-US" sz="1600" dirty="0"/>
          </a:p>
        </p:txBody>
      </p:sp>
      <p:sp>
        <p:nvSpPr>
          <p:cNvPr id="10" name="Shape 5"/>
          <p:cNvSpPr/>
          <p:nvPr/>
        </p:nvSpPr>
        <p:spPr>
          <a:xfrm>
            <a:off x="640080" y="3538728"/>
            <a:ext cx="512064" cy="512064"/>
          </a:xfrm>
          <a:prstGeom prst="ellipse">
            <a:avLst/>
          </a:prstGeom>
          <a:solidFill>
            <a:srgbClr val="0F766E"/>
          </a:solidFill>
          <a:ln/>
        </p:spPr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8337" y="3676985"/>
            <a:ext cx="235549" cy="235549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1380744" y="3337560"/>
            <a:ext cx="67574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 2.0</a:t>
            </a:r>
            <a:pPr indent="0" marL="0">
              <a:buNone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includes digital interaction, quizzes, drag-and-drop activities, and engagement measurement.</a:t>
            </a:r>
            <a:endParaRPr lang="en-US" sz="1600" dirty="0"/>
          </a:p>
        </p:txBody>
      </p:sp>
      <p:sp>
        <p:nvSpPr>
          <p:cNvPr id="13" name="Shape 7"/>
          <p:cNvSpPr/>
          <p:nvPr/>
        </p:nvSpPr>
        <p:spPr>
          <a:xfrm>
            <a:off x="640080" y="4453128"/>
            <a:ext cx="512064" cy="512064"/>
          </a:xfrm>
          <a:prstGeom prst="ellipse">
            <a:avLst/>
          </a:prstGeom>
          <a:solidFill>
            <a:srgbClr val="0F766E"/>
          </a:solidFill>
          <a:ln/>
        </p:spPr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8337" y="4591385"/>
            <a:ext cx="235549" cy="235549"/>
          </a:xfrm>
          <a:prstGeom prst="rect">
            <a:avLst/>
          </a:prstGeom>
        </p:spPr>
      </p:pic>
      <p:sp>
        <p:nvSpPr>
          <p:cNvPr id="15" name="Text 8"/>
          <p:cNvSpPr txBox="1"/>
          <p:nvPr/>
        </p:nvSpPr>
        <p:spPr>
          <a:xfrm>
            <a:off x="1380744" y="4251960"/>
            <a:ext cx="67574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Vedantu says WAVE 2.0 was designed to use </a:t>
            </a:r>
            <a:pPr indent="0" marL="0">
              <a:buNone/>
            </a:pPr>
            <a:r>
              <a:rPr lang="en-US" sz="16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 less bandwidth</a:t>
            </a:r>
            <a:pPr indent="0" marL="0">
              <a:buNone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than other platforms, helping students with limited internet speeds.</a:t>
            </a:r>
            <a:endParaRPr lang="en-US" sz="1600" dirty="0"/>
          </a:p>
        </p:txBody>
      </p:sp>
      <p:sp>
        <p:nvSpPr>
          <p:cNvPr id="16" name="Shape 9"/>
          <p:cNvSpPr/>
          <p:nvPr/>
        </p:nvSpPr>
        <p:spPr>
          <a:xfrm>
            <a:off x="640080" y="5367528"/>
            <a:ext cx="512064" cy="512064"/>
          </a:xfrm>
          <a:prstGeom prst="ellipse">
            <a:avLst/>
          </a:prstGeom>
          <a:solidFill>
            <a:srgbClr val="0F766E"/>
          </a:solidFill>
          <a:ln/>
        </p:spPr>
      </p:sp>
      <p:pic>
        <p:nvPicPr>
          <p:cNvPr id="1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8337" y="5505785"/>
            <a:ext cx="235549" cy="235549"/>
          </a:xfrm>
          <a:prstGeom prst="rect">
            <a:avLst/>
          </a:prstGeom>
        </p:spPr>
      </p:pic>
      <p:sp>
        <p:nvSpPr>
          <p:cNvPr id="18" name="Text 10"/>
          <p:cNvSpPr txBox="1"/>
          <p:nvPr/>
        </p:nvSpPr>
        <p:spPr>
          <a:xfrm>
            <a:off x="1380744" y="5166360"/>
            <a:ext cx="67574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infrastructure</a:t>
            </a:r>
            <a:pPr indent="0" marL="0">
              <a:buNone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has also been used for video delivery, data processing, security, and large-scale online learning.</a:t>
            </a:r>
            <a:endParaRPr lang="en-US" sz="1600" dirty="0"/>
          </a:p>
        </p:txBody>
      </p:sp>
      <p:sp>
        <p:nvSpPr>
          <p:cNvPr id="19" name="Shape 11"/>
          <p:cNvSpPr/>
          <p:nvPr/>
        </p:nvSpPr>
        <p:spPr>
          <a:xfrm>
            <a:off x="8686800" y="1508760"/>
            <a:ext cx="2880360" cy="4572000"/>
          </a:xfrm>
          <a:prstGeom prst="roundRect">
            <a:avLst>
              <a:gd name="adj" fmla="val 3810"/>
            </a:avLst>
          </a:prstGeom>
          <a:solidFill>
            <a:srgbClr val="ECF5F3"/>
          </a:solidFill>
          <a:ln/>
        </p:spPr>
      </p:sp>
      <p:pic>
        <p:nvPicPr>
          <p:cNvPr id="20" name="Image 6" descr="Vedantu WAVE 2.0 on a laptop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86800" y="1508760"/>
            <a:ext cx="2880360" cy="2103120"/>
          </a:xfrm>
          <a:prstGeom prst="rect">
            <a:avLst/>
          </a:prstGeom>
        </p:spPr>
      </p:pic>
      <p:sp>
        <p:nvSpPr>
          <p:cNvPr id="21" name="Text 12"/>
          <p:cNvSpPr txBox="1"/>
          <p:nvPr/>
        </p:nvSpPr>
        <p:spPr>
          <a:xfrm>
            <a:off x="8686800" y="3749040"/>
            <a:ext cx="2880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</a:t>
            </a:r>
            <a:endParaRPr lang="en-US" sz="5400" dirty="0"/>
          </a:p>
        </p:txBody>
      </p:sp>
      <p:sp>
        <p:nvSpPr>
          <p:cNvPr id="22" name="Text 13"/>
          <p:cNvSpPr txBox="1"/>
          <p:nvPr/>
        </p:nvSpPr>
        <p:spPr>
          <a:xfrm>
            <a:off x="8686800" y="466344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bandwidth</a:t>
            </a:r>
            <a:endParaRPr lang="en-US" sz="1800" dirty="0"/>
          </a:p>
        </p:txBody>
      </p:sp>
      <p:sp>
        <p:nvSpPr>
          <p:cNvPr id="23" name="Text 14"/>
          <p:cNvSpPr txBox="1"/>
          <p:nvPr/>
        </p:nvSpPr>
        <p:spPr>
          <a:xfrm>
            <a:off x="8961120" y="512064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Vedantu's own claim for WAVE 2.0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CA3A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8961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process</a:t>
            </a:r>
            <a:endParaRPr lang="en-US" sz="3400" dirty="0"/>
          </a:p>
        </p:txBody>
      </p:sp>
      <p:pic>
        <p:nvPicPr>
          <p:cNvPr id="3" name="Image 0" descr="Vedantu 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29800" y="357459"/>
            <a:ext cx="1737360" cy="711547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1320165" y="3246120"/>
            <a:ext cx="9521190" cy="0"/>
          </a:xfrm>
          <a:prstGeom prst="line">
            <a:avLst/>
          </a:prstGeom>
          <a:noFill/>
          <a:ln w="25400">
            <a:solidFill>
              <a:srgbClr val="C9DEDA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62965" y="22402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908685" y="2834640"/>
            <a:ext cx="822960" cy="822960"/>
          </a:xfrm>
          <a:prstGeom prst="ellipse">
            <a:avLst/>
          </a:prstGeom>
          <a:solidFill>
            <a:srgbClr val="0F766E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0884" y="3056839"/>
            <a:ext cx="378562" cy="378562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661797" y="3886200"/>
            <a:ext cx="13167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</a:t>
            </a:r>
            <a:endParaRPr lang="en-US" sz="1600" dirty="0"/>
          </a:p>
        </p:txBody>
      </p:sp>
      <p:sp>
        <p:nvSpPr>
          <p:cNvPr id="9" name="Text 5"/>
          <p:cNvSpPr txBox="1"/>
          <p:nvPr/>
        </p:nvSpPr>
        <p:spPr>
          <a:xfrm>
            <a:off x="2223135" y="22402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2268855" y="2834640"/>
            <a:ext cx="822960" cy="822960"/>
          </a:xfrm>
          <a:prstGeom prst="ellipse">
            <a:avLst/>
          </a:prstGeom>
          <a:solidFill>
            <a:srgbClr val="0F766E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91054" y="3056839"/>
            <a:ext cx="378562" cy="378562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2021967" y="3886200"/>
            <a:ext cx="13167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course</a:t>
            </a:r>
            <a:endParaRPr lang="en-US" sz="1600" dirty="0"/>
          </a:p>
        </p:txBody>
      </p:sp>
      <p:sp>
        <p:nvSpPr>
          <p:cNvPr id="13" name="Text 8"/>
          <p:cNvSpPr txBox="1"/>
          <p:nvPr/>
        </p:nvSpPr>
        <p:spPr>
          <a:xfrm>
            <a:off x="3583305" y="22402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14" name="Shape 9"/>
          <p:cNvSpPr/>
          <p:nvPr/>
        </p:nvSpPr>
        <p:spPr>
          <a:xfrm>
            <a:off x="3629025" y="2834640"/>
            <a:ext cx="822960" cy="822960"/>
          </a:xfrm>
          <a:prstGeom prst="ellipse">
            <a:avLst/>
          </a:prstGeom>
          <a:solidFill>
            <a:srgbClr val="0F766E"/>
          </a:solidFill>
          <a:ln/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51224" y="3056839"/>
            <a:ext cx="378562" cy="378562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3382137" y="3886200"/>
            <a:ext cx="13167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 live class</a:t>
            </a:r>
            <a:endParaRPr lang="en-US" sz="1600" dirty="0"/>
          </a:p>
        </p:txBody>
      </p:sp>
      <p:sp>
        <p:nvSpPr>
          <p:cNvPr id="17" name="Text 11"/>
          <p:cNvSpPr txBox="1"/>
          <p:nvPr/>
        </p:nvSpPr>
        <p:spPr>
          <a:xfrm>
            <a:off x="4943475" y="22402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18" name="Shape 12"/>
          <p:cNvSpPr/>
          <p:nvPr/>
        </p:nvSpPr>
        <p:spPr>
          <a:xfrm>
            <a:off x="4989195" y="2834640"/>
            <a:ext cx="822960" cy="822960"/>
          </a:xfrm>
          <a:prstGeom prst="ellipse">
            <a:avLst/>
          </a:prstGeom>
          <a:solidFill>
            <a:srgbClr val="0F766E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11394" y="3056839"/>
            <a:ext cx="378562" cy="378562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4742307" y="3886200"/>
            <a:ext cx="13167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doubts</a:t>
            </a:r>
            <a:endParaRPr lang="en-US" sz="1600" dirty="0"/>
          </a:p>
        </p:txBody>
      </p:sp>
      <p:sp>
        <p:nvSpPr>
          <p:cNvPr id="21" name="Text 14"/>
          <p:cNvSpPr txBox="1"/>
          <p:nvPr/>
        </p:nvSpPr>
        <p:spPr>
          <a:xfrm>
            <a:off x="6303645" y="22402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22" name="Shape 15"/>
          <p:cNvSpPr/>
          <p:nvPr/>
        </p:nvSpPr>
        <p:spPr>
          <a:xfrm>
            <a:off x="6349365" y="2834640"/>
            <a:ext cx="822960" cy="822960"/>
          </a:xfrm>
          <a:prstGeom prst="ellipse">
            <a:avLst/>
          </a:prstGeom>
          <a:solidFill>
            <a:srgbClr val="0F766E"/>
          </a:solidFill>
          <a:ln/>
        </p:spPr>
      </p:sp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71564" y="3056839"/>
            <a:ext cx="378562" cy="378562"/>
          </a:xfrm>
          <a:prstGeom prst="rect">
            <a:avLst/>
          </a:prstGeom>
        </p:spPr>
      </p:pic>
      <p:sp>
        <p:nvSpPr>
          <p:cNvPr id="24" name="Text 16"/>
          <p:cNvSpPr txBox="1"/>
          <p:nvPr/>
        </p:nvSpPr>
        <p:spPr>
          <a:xfrm>
            <a:off x="6102477" y="3886200"/>
            <a:ext cx="13167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</a:t>
            </a:r>
            <a:endParaRPr lang="en-US" sz="1600" dirty="0"/>
          </a:p>
        </p:txBody>
      </p:sp>
      <p:sp>
        <p:nvSpPr>
          <p:cNvPr id="25" name="Text 17"/>
          <p:cNvSpPr txBox="1"/>
          <p:nvPr/>
        </p:nvSpPr>
        <p:spPr>
          <a:xfrm>
            <a:off x="7663815" y="22402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400" dirty="0"/>
          </a:p>
        </p:txBody>
      </p:sp>
      <p:sp>
        <p:nvSpPr>
          <p:cNvPr id="26" name="Shape 18"/>
          <p:cNvSpPr/>
          <p:nvPr/>
        </p:nvSpPr>
        <p:spPr>
          <a:xfrm>
            <a:off x="7709535" y="2834640"/>
            <a:ext cx="822960" cy="822960"/>
          </a:xfrm>
          <a:prstGeom prst="ellipse">
            <a:avLst/>
          </a:prstGeom>
          <a:solidFill>
            <a:srgbClr val="0F766E"/>
          </a:solidFill>
          <a:ln/>
        </p:spPr>
      </p:sp>
      <p:pic>
        <p:nvPicPr>
          <p:cNvPr id="2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31734" y="3056839"/>
            <a:ext cx="378562" cy="378562"/>
          </a:xfrm>
          <a:prstGeom prst="rect">
            <a:avLst/>
          </a:prstGeom>
        </p:spPr>
      </p:pic>
      <p:sp>
        <p:nvSpPr>
          <p:cNvPr id="28" name="Text 19"/>
          <p:cNvSpPr txBox="1"/>
          <p:nvPr/>
        </p:nvSpPr>
        <p:spPr>
          <a:xfrm>
            <a:off x="7462647" y="3886200"/>
            <a:ext cx="13167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</a:t>
            </a:r>
            <a:endParaRPr lang="en-US" sz="1600" dirty="0"/>
          </a:p>
        </p:txBody>
      </p:sp>
      <p:sp>
        <p:nvSpPr>
          <p:cNvPr id="29" name="Text 20"/>
          <p:cNvSpPr txBox="1"/>
          <p:nvPr/>
        </p:nvSpPr>
        <p:spPr>
          <a:xfrm>
            <a:off x="9023985" y="22402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400" dirty="0"/>
          </a:p>
        </p:txBody>
      </p:sp>
      <p:sp>
        <p:nvSpPr>
          <p:cNvPr id="30" name="Shape 21"/>
          <p:cNvSpPr/>
          <p:nvPr/>
        </p:nvSpPr>
        <p:spPr>
          <a:xfrm>
            <a:off x="9069705" y="2834640"/>
            <a:ext cx="822960" cy="822960"/>
          </a:xfrm>
          <a:prstGeom prst="ellipse">
            <a:avLst/>
          </a:prstGeom>
          <a:solidFill>
            <a:srgbClr val="0F766E"/>
          </a:solidFill>
          <a:ln/>
        </p:spPr>
      </p:sp>
      <p:pic>
        <p:nvPicPr>
          <p:cNvPr id="3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91904" y="3056839"/>
            <a:ext cx="378562" cy="378562"/>
          </a:xfrm>
          <a:prstGeom prst="rect">
            <a:avLst/>
          </a:prstGeom>
        </p:spPr>
      </p:pic>
      <p:sp>
        <p:nvSpPr>
          <p:cNvPr id="32" name="Text 22"/>
          <p:cNvSpPr txBox="1"/>
          <p:nvPr/>
        </p:nvSpPr>
        <p:spPr>
          <a:xfrm>
            <a:off x="8822817" y="3886200"/>
            <a:ext cx="13167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feedback</a:t>
            </a:r>
            <a:endParaRPr lang="en-US" sz="1600" dirty="0"/>
          </a:p>
        </p:txBody>
      </p:sp>
      <p:sp>
        <p:nvSpPr>
          <p:cNvPr id="33" name="Text 23"/>
          <p:cNvSpPr txBox="1"/>
          <p:nvPr/>
        </p:nvSpPr>
        <p:spPr>
          <a:xfrm>
            <a:off x="10384155" y="22402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400" dirty="0"/>
          </a:p>
        </p:txBody>
      </p:sp>
      <p:sp>
        <p:nvSpPr>
          <p:cNvPr id="34" name="Shape 24"/>
          <p:cNvSpPr/>
          <p:nvPr/>
        </p:nvSpPr>
        <p:spPr>
          <a:xfrm>
            <a:off x="10429875" y="2834640"/>
            <a:ext cx="822960" cy="822960"/>
          </a:xfrm>
          <a:prstGeom prst="ellipse">
            <a:avLst/>
          </a:prstGeom>
          <a:solidFill>
            <a:srgbClr val="0F766E"/>
          </a:solidFill>
          <a:ln/>
        </p:spPr>
      </p:sp>
      <p:pic>
        <p:nvPicPr>
          <p:cNvPr id="35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652074" y="3056839"/>
            <a:ext cx="378562" cy="378562"/>
          </a:xfrm>
          <a:prstGeom prst="rect">
            <a:avLst/>
          </a:prstGeom>
        </p:spPr>
      </p:pic>
      <p:sp>
        <p:nvSpPr>
          <p:cNvPr id="36" name="Text 25"/>
          <p:cNvSpPr txBox="1"/>
          <p:nvPr/>
        </p:nvSpPr>
        <p:spPr>
          <a:xfrm>
            <a:off x="10182987" y="3886200"/>
            <a:ext cx="13167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Revision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CA3A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8961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 and disadvantages</a:t>
            </a:r>
            <a:endParaRPr lang="en-US" sz="3400" dirty="0"/>
          </a:p>
        </p:txBody>
      </p:sp>
      <p:pic>
        <p:nvPicPr>
          <p:cNvPr id="3" name="Image 0" descr="Vedantu 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29800" y="357459"/>
            <a:ext cx="1737360" cy="711547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40080" y="128016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</a:t>
            </a:r>
            <a:endParaRPr lang="en-US" sz="2200" dirty="0"/>
          </a:p>
        </p:txBody>
      </p:sp>
      <p:sp>
        <p:nvSpPr>
          <p:cNvPr id="5" name="Text 2"/>
          <p:cNvSpPr txBox="1"/>
          <p:nvPr/>
        </p:nvSpPr>
        <p:spPr>
          <a:xfrm>
            <a:off x="6263640" y="128016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Disadvantages</a:t>
            </a:r>
            <a:endParaRPr lang="en-US" sz="22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938528"/>
            <a:ext cx="237744" cy="237744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051560" y="1783080"/>
            <a:ext cx="4892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from anywhere</a:t>
            </a:r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reduces geographical barriers.</a:t>
            </a:r>
            <a:endParaRPr lang="en-US" sz="14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487168"/>
            <a:ext cx="237744" cy="237744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1051560" y="2331720"/>
            <a:ext cx="4892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teacher interaction</a:t>
            </a:r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students can communicate with teachers.</a:t>
            </a:r>
            <a:endParaRPr lang="en-US" sz="14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3035808"/>
            <a:ext cx="237744" cy="237744"/>
          </a:xfrm>
          <a:prstGeom prst="rect">
            <a:avLst/>
          </a:prstGeom>
        </p:spPr>
      </p:pic>
      <p:sp>
        <p:nvSpPr>
          <p:cNvPr id="11" name="Text 5"/>
          <p:cNvSpPr txBox="1"/>
          <p:nvPr/>
        </p:nvSpPr>
        <p:spPr>
          <a:xfrm>
            <a:off x="1051560" y="2880360"/>
            <a:ext cx="4892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learning</a:t>
            </a:r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learning can be adapted to student needs.</a:t>
            </a:r>
            <a:endParaRPr lang="en-US" sz="1400" dirty="0"/>
          </a:p>
        </p:txBody>
      </p:sp>
      <p:pic>
        <p:nvPicPr>
          <p:cNvPr id="1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3584448"/>
            <a:ext cx="237744" cy="237744"/>
          </a:xfrm>
          <a:prstGeom prst="rect">
            <a:avLst/>
          </a:prstGeom>
        </p:spPr>
      </p:pic>
      <p:sp>
        <p:nvSpPr>
          <p:cNvPr id="13" name="Text 6"/>
          <p:cNvSpPr txBox="1"/>
          <p:nvPr/>
        </p:nvSpPr>
        <p:spPr>
          <a:xfrm>
            <a:off x="1051560" y="3429000"/>
            <a:ext cx="4892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Doubt solving</a:t>
            </a:r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students can ask questions during learning.</a:t>
            </a:r>
            <a:endParaRPr lang="en-US" sz="1400" dirty="0"/>
          </a:p>
        </p:txBody>
      </p:sp>
      <p:pic>
        <p:nvPicPr>
          <p:cNvPr id="1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" y="4133088"/>
            <a:ext cx="237744" cy="237744"/>
          </a:xfrm>
          <a:prstGeom prst="rect">
            <a:avLst/>
          </a:prstGeom>
        </p:spPr>
      </p:pic>
      <p:sp>
        <p:nvSpPr>
          <p:cNvPr id="15" name="Text 7"/>
          <p:cNvSpPr txBox="1"/>
          <p:nvPr/>
        </p:nvSpPr>
        <p:spPr>
          <a:xfrm>
            <a:off x="1051560" y="3977640"/>
            <a:ext cx="4892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resources</a:t>
            </a:r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notes, assignments, quizzes, and tests are available.</a:t>
            </a:r>
            <a:endParaRPr lang="en-US" sz="1400" dirty="0"/>
          </a:p>
        </p:txBody>
      </p:sp>
      <p:pic>
        <p:nvPicPr>
          <p:cNvPr id="1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0080" y="4681728"/>
            <a:ext cx="237744" cy="237744"/>
          </a:xfrm>
          <a:prstGeom prst="rect">
            <a:avLst/>
          </a:prstGeom>
        </p:spPr>
      </p:pic>
      <p:sp>
        <p:nvSpPr>
          <p:cNvPr id="17" name="Text 8"/>
          <p:cNvSpPr txBox="1"/>
          <p:nvPr/>
        </p:nvSpPr>
        <p:spPr>
          <a:xfrm>
            <a:off x="1051560" y="4526280"/>
            <a:ext cx="4892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Convenience</a:t>
            </a:r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reduces the need to travel to coaching centres.</a:t>
            </a:r>
            <a:endParaRPr lang="en-US" sz="1400" dirty="0"/>
          </a:p>
        </p:txBody>
      </p:sp>
      <p:pic>
        <p:nvPicPr>
          <p:cNvPr id="18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0080" y="5230368"/>
            <a:ext cx="237744" cy="237744"/>
          </a:xfrm>
          <a:prstGeom prst="rect">
            <a:avLst/>
          </a:prstGeom>
        </p:spPr>
      </p:pic>
      <p:sp>
        <p:nvSpPr>
          <p:cNvPr id="19" name="Text 9"/>
          <p:cNvSpPr txBox="1"/>
          <p:nvPr/>
        </p:nvSpPr>
        <p:spPr>
          <a:xfrm>
            <a:off x="1051560" y="5074920"/>
            <a:ext cx="4892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Recorded lessons</a:t>
            </a:r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useful for revision and missed classes.</a:t>
            </a:r>
            <a:endParaRPr lang="en-US" sz="1400" dirty="0"/>
          </a:p>
        </p:txBody>
      </p:sp>
      <p:pic>
        <p:nvPicPr>
          <p:cNvPr id="2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0080" y="5779008"/>
            <a:ext cx="237744" cy="237744"/>
          </a:xfrm>
          <a:prstGeom prst="rect">
            <a:avLst/>
          </a:prstGeom>
        </p:spPr>
      </p:pic>
      <p:sp>
        <p:nvSpPr>
          <p:cNvPr id="21" name="Text 10"/>
          <p:cNvSpPr txBox="1"/>
          <p:nvPr/>
        </p:nvSpPr>
        <p:spPr>
          <a:xfrm>
            <a:off x="1051560" y="5623560"/>
            <a:ext cx="4892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Technology-based learning</a:t>
            </a:r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interactive tools can make lessons more engaging.</a:t>
            </a:r>
            <a:endParaRPr lang="en-US" sz="1400" dirty="0"/>
          </a:p>
        </p:txBody>
      </p:sp>
      <p:pic>
        <p:nvPicPr>
          <p:cNvPr id="22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263640" y="1938528"/>
            <a:ext cx="237744" cy="237744"/>
          </a:xfrm>
          <a:prstGeom prst="rect">
            <a:avLst/>
          </a:prstGeom>
        </p:spPr>
      </p:pic>
      <p:sp>
        <p:nvSpPr>
          <p:cNvPr id="23" name="Text 11"/>
          <p:cNvSpPr txBox="1"/>
          <p:nvPr/>
        </p:nvSpPr>
        <p:spPr>
          <a:xfrm>
            <a:off x="6675120" y="1783080"/>
            <a:ext cx="4892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 dependency</a:t>
            </a:r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poor connectivity can interrupt classes.</a:t>
            </a:r>
            <a:endParaRPr lang="en-US" sz="1400" dirty="0"/>
          </a:p>
        </p:txBody>
      </p:sp>
      <p:pic>
        <p:nvPicPr>
          <p:cNvPr id="24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263640" y="2487168"/>
            <a:ext cx="237744" cy="237744"/>
          </a:xfrm>
          <a:prstGeom prst="rect">
            <a:avLst/>
          </a:prstGeom>
        </p:spPr>
      </p:pic>
      <p:sp>
        <p:nvSpPr>
          <p:cNvPr id="25" name="Text 12"/>
          <p:cNvSpPr txBox="1"/>
          <p:nvPr/>
        </p:nvSpPr>
        <p:spPr>
          <a:xfrm>
            <a:off x="6675120" y="2331720"/>
            <a:ext cx="4892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dependency</a:t>
            </a:r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students need a suitable device.</a:t>
            </a:r>
            <a:endParaRPr lang="en-US" sz="1400" dirty="0"/>
          </a:p>
        </p:txBody>
      </p:sp>
      <p:pic>
        <p:nvPicPr>
          <p:cNvPr id="26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263640" y="3035808"/>
            <a:ext cx="237744" cy="237744"/>
          </a:xfrm>
          <a:prstGeom prst="rect">
            <a:avLst/>
          </a:prstGeom>
        </p:spPr>
      </p:pic>
      <p:sp>
        <p:nvSpPr>
          <p:cNvPr id="27" name="Text 13"/>
          <p:cNvSpPr txBox="1"/>
          <p:nvPr/>
        </p:nvSpPr>
        <p:spPr>
          <a:xfrm>
            <a:off x="6675120" y="2880360"/>
            <a:ext cx="4892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Increased screen time</a:t>
            </a:r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prolonged digital learning can increase screen exposure.</a:t>
            </a:r>
            <a:endParaRPr lang="en-US" sz="1400" dirty="0"/>
          </a:p>
        </p:txBody>
      </p:sp>
      <p:pic>
        <p:nvPicPr>
          <p:cNvPr id="28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263640" y="3584448"/>
            <a:ext cx="237744" cy="237744"/>
          </a:xfrm>
          <a:prstGeom prst="rect">
            <a:avLst/>
          </a:prstGeom>
        </p:spPr>
      </p:pic>
      <p:sp>
        <p:nvSpPr>
          <p:cNvPr id="29" name="Text 14"/>
          <p:cNvSpPr txBox="1"/>
          <p:nvPr/>
        </p:nvSpPr>
        <p:spPr>
          <a:xfrm>
            <a:off x="6675120" y="3429000"/>
            <a:ext cx="4892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Distractions</a:t>
            </a:r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students studying at home may be distracted by other apps or activities.</a:t>
            </a:r>
            <a:endParaRPr lang="en-US" sz="1400" dirty="0"/>
          </a:p>
        </p:txBody>
      </p:sp>
      <p:pic>
        <p:nvPicPr>
          <p:cNvPr id="30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263640" y="4133088"/>
            <a:ext cx="237744" cy="237744"/>
          </a:xfrm>
          <a:prstGeom prst="rect">
            <a:avLst/>
          </a:prstGeom>
        </p:spPr>
      </p:pic>
      <p:sp>
        <p:nvSpPr>
          <p:cNvPr id="31" name="Text 15"/>
          <p:cNvSpPr txBox="1"/>
          <p:nvPr/>
        </p:nvSpPr>
        <p:spPr>
          <a:xfrm>
            <a:off x="6675120" y="3977640"/>
            <a:ext cx="4892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physical interaction</a:t>
            </a:r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online learning cannot completely replace the social experience of a classroom.</a:t>
            </a:r>
            <a:endParaRPr lang="en-US" sz="1400" dirty="0"/>
          </a:p>
        </p:txBody>
      </p:sp>
      <p:pic>
        <p:nvPicPr>
          <p:cNvPr id="32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263640" y="4681728"/>
            <a:ext cx="237744" cy="237744"/>
          </a:xfrm>
          <a:prstGeom prst="rect">
            <a:avLst/>
          </a:prstGeom>
        </p:spPr>
      </p:pic>
      <p:sp>
        <p:nvSpPr>
          <p:cNvPr id="33" name="Text 16"/>
          <p:cNvSpPr txBox="1"/>
          <p:nvPr/>
        </p:nvSpPr>
        <p:spPr>
          <a:xfrm>
            <a:off x="6675120" y="4526280"/>
            <a:ext cx="4892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problems</a:t>
            </a:r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device, application, audio, or network problems can affect classes.</a:t>
            </a:r>
            <a:endParaRPr lang="en-US" sz="1400" dirty="0"/>
          </a:p>
        </p:txBody>
      </p:sp>
      <p:pic>
        <p:nvPicPr>
          <p:cNvPr id="34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263640" y="5230368"/>
            <a:ext cx="237744" cy="237744"/>
          </a:xfrm>
          <a:prstGeom prst="rect">
            <a:avLst/>
          </a:prstGeom>
        </p:spPr>
      </p:pic>
      <p:sp>
        <p:nvSpPr>
          <p:cNvPr id="35" name="Text 17"/>
          <p:cNvSpPr txBox="1"/>
          <p:nvPr/>
        </p:nvSpPr>
        <p:spPr>
          <a:xfrm>
            <a:off x="6675120" y="5074920"/>
            <a:ext cx="4892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 discipline required</a:t>
            </a:r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students need to stay focused and manage their time.</a:t>
            </a:r>
            <a:endParaRPr lang="en-US" sz="1400" dirty="0"/>
          </a:p>
        </p:txBody>
      </p:sp>
      <p:pic>
        <p:nvPicPr>
          <p:cNvPr id="36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263640" y="5779008"/>
            <a:ext cx="237744" cy="237744"/>
          </a:xfrm>
          <a:prstGeom prst="rect">
            <a:avLst/>
          </a:prstGeom>
        </p:spPr>
      </p:pic>
      <p:sp>
        <p:nvSpPr>
          <p:cNvPr id="37" name="Text 18"/>
          <p:cNvSpPr txBox="1"/>
          <p:nvPr/>
        </p:nvSpPr>
        <p:spPr>
          <a:xfrm>
            <a:off x="6675120" y="5623560"/>
            <a:ext cx="4892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Affordability</a:t>
            </a:r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paid programs may not be suitable for every family.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CA3A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8961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 challenges and impact</a:t>
            </a:r>
            <a:endParaRPr lang="en-US" sz="3400" dirty="0"/>
          </a:p>
        </p:txBody>
      </p:sp>
      <p:pic>
        <p:nvPicPr>
          <p:cNvPr id="3" name="Image 0" descr="Vedantu 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29800" y="357459"/>
            <a:ext cx="1737360" cy="711547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40080" y="128016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 challenges</a:t>
            </a:r>
            <a:endParaRPr lang="en-US" sz="22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975104"/>
            <a:ext cx="237744" cy="237744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1051560" y="1783080"/>
            <a:ext cx="4983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Maintaining </a:t>
            </a:r>
            <a:pPr indent="0" marL="0">
              <a:buNone/>
            </a:pPr>
            <a:r>
              <a:rPr lang="en-US" sz="15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engagement</a:t>
            </a:r>
            <a:pPr indent="0" marL="0"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during online classes.</a:t>
            </a:r>
            <a:endParaRPr lang="en-US" sz="15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596896"/>
            <a:ext cx="237744" cy="237744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1051560" y="2404872"/>
            <a:ext cx="4983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Delivering </a:t>
            </a:r>
            <a:pPr indent="0" marL="0">
              <a:buNone/>
            </a:pPr>
            <a:r>
              <a:rPr lang="en-US" sz="15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reliable live classes</a:t>
            </a:r>
            <a:pPr indent="0" marL="0"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 a large number of students.</a:t>
            </a:r>
            <a:endParaRPr lang="en-US" sz="1500" dirty="0"/>
          </a:p>
        </p:txBody>
      </p:sp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3218688"/>
            <a:ext cx="237744" cy="237744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1051560" y="3026664"/>
            <a:ext cx="4983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Maintaining </a:t>
            </a:r>
            <a:pPr indent="0" marL="0">
              <a:buNone/>
            </a:pPr>
            <a:r>
              <a:rPr lang="en-US" sz="15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teaching quality.</a:t>
            </a:r>
            <a:endParaRPr lang="en-US" sz="1500" dirty="0"/>
          </a:p>
        </p:txBody>
      </p:sp>
      <p:pic>
        <p:nvPicPr>
          <p:cNvPr id="1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3840480"/>
            <a:ext cx="237744" cy="237744"/>
          </a:xfrm>
          <a:prstGeom prst="rect">
            <a:avLst/>
          </a:prstGeom>
        </p:spPr>
      </p:pic>
      <p:sp>
        <p:nvSpPr>
          <p:cNvPr id="12" name="Text 5"/>
          <p:cNvSpPr txBox="1"/>
          <p:nvPr/>
        </p:nvSpPr>
        <p:spPr>
          <a:xfrm>
            <a:off x="1051560" y="3648456"/>
            <a:ext cx="4983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Managing increasing </a:t>
            </a:r>
            <a:pPr indent="0" marL="0">
              <a:buNone/>
            </a:pPr>
            <a:r>
              <a:rPr lang="en-US" sz="15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and infrastructure</a:t>
            </a:r>
            <a:pPr indent="0" marL="0"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requirements.</a:t>
            </a:r>
            <a:endParaRPr lang="en-US" sz="1500" dirty="0"/>
          </a:p>
        </p:txBody>
      </p:sp>
      <p:pic>
        <p:nvPicPr>
          <p:cNvPr id="1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" y="4462272"/>
            <a:ext cx="237744" cy="237744"/>
          </a:xfrm>
          <a:prstGeom prst="rect">
            <a:avLst/>
          </a:prstGeom>
        </p:spPr>
      </p:pic>
      <p:sp>
        <p:nvSpPr>
          <p:cNvPr id="14" name="Text 6"/>
          <p:cNvSpPr txBox="1"/>
          <p:nvPr/>
        </p:nvSpPr>
        <p:spPr>
          <a:xfrm>
            <a:off x="1051560" y="4270248"/>
            <a:ext cx="4983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Competing</a:t>
            </a:r>
            <a:pPr indent="0" marL="0"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with other EdTech platforms.</a:t>
            </a:r>
            <a:endParaRPr lang="en-US" sz="1500" dirty="0"/>
          </a:p>
        </p:txBody>
      </p:sp>
      <p:pic>
        <p:nvPicPr>
          <p:cNvPr id="1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0080" y="5084064"/>
            <a:ext cx="237744" cy="237744"/>
          </a:xfrm>
          <a:prstGeom prst="rect">
            <a:avLst/>
          </a:prstGeom>
        </p:spPr>
      </p:pic>
      <p:sp>
        <p:nvSpPr>
          <p:cNvPr id="16" name="Text 7"/>
          <p:cNvSpPr txBox="1"/>
          <p:nvPr/>
        </p:nvSpPr>
        <p:spPr>
          <a:xfrm>
            <a:off x="1051560" y="4892040"/>
            <a:ext cx="4983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Making online education accessible to students with </a:t>
            </a:r>
            <a:pPr indent="0" marL="0">
              <a:buNone/>
            </a:pPr>
            <a:r>
              <a:rPr lang="en-US" sz="15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weaker internet connectivity.</a:t>
            </a:r>
            <a:endParaRPr lang="en-US" sz="1500" dirty="0"/>
          </a:p>
        </p:txBody>
      </p:sp>
      <p:pic>
        <p:nvPicPr>
          <p:cNvPr id="17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0080" y="5705856"/>
            <a:ext cx="237744" cy="237744"/>
          </a:xfrm>
          <a:prstGeom prst="rect">
            <a:avLst/>
          </a:prstGeom>
        </p:spPr>
      </p:pic>
      <p:sp>
        <p:nvSpPr>
          <p:cNvPr id="18" name="Text 8"/>
          <p:cNvSpPr txBox="1"/>
          <p:nvPr/>
        </p:nvSpPr>
        <p:spPr>
          <a:xfrm>
            <a:off x="1051560" y="5513832"/>
            <a:ext cx="4983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Protecting students and maintaining a </a:t>
            </a:r>
            <a:pPr indent="0" marL="0">
              <a:buNone/>
            </a:pPr>
            <a:r>
              <a:rPr lang="en-US" sz="15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digital learning environment.</a:t>
            </a:r>
            <a:endParaRPr lang="en-US" sz="1500" dirty="0"/>
          </a:p>
        </p:txBody>
      </p:sp>
      <p:sp>
        <p:nvSpPr>
          <p:cNvPr id="19" name="Text 9"/>
          <p:cNvSpPr txBox="1"/>
          <p:nvPr/>
        </p:nvSpPr>
        <p:spPr>
          <a:xfrm>
            <a:off x="6492240" y="128016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and achievements</a:t>
            </a:r>
            <a:endParaRPr lang="en-US" sz="2200" dirty="0"/>
          </a:p>
        </p:txBody>
      </p:sp>
      <p:sp>
        <p:nvSpPr>
          <p:cNvPr id="20" name="Shape 10"/>
          <p:cNvSpPr/>
          <p:nvPr/>
        </p:nvSpPr>
        <p:spPr>
          <a:xfrm>
            <a:off x="6492240" y="1783080"/>
            <a:ext cx="2423160" cy="1188720"/>
          </a:xfrm>
          <a:prstGeom prst="roundRect">
            <a:avLst>
              <a:gd name="adj" fmla="val 9231"/>
            </a:avLst>
          </a:prstGeom>
          <a:solidFill>
            <a:srgbClr val="ECF5F3"/>
          </a:solidFill>
          <a:ln/>
        </p:spPr>
      </p:sp>
      <p:sp>
        <p:nvSpPr>
          <p:cNvPr id="21" name="Text 11"/>
          <p:cNvSpPr txBox="1"/>
          <p:nvPr/>
        </p:nvSpPr>
        <p:spPr>
          <a:xfrm>
            <a:off x="6675120" y="1892808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1.4 lakh+</a:t>
            </a:r>
            <a:endParaRPr lang="en-US" sz="2800" dirty="0"/>
          </a:p>
        </p:txBody>
      </p:sp>
      <p:sp>
        <p:nvSpPr>
          <p:cNvPr id="22" name="Text 12"/>
          <p:cNvSpPr txBox="1"/>
          <p:nvPr/>
        </p:nvSpPr>
        <p:spPr>
          <a:xfrm>
            <a:off x="6675120" y="2496312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active students</a:t>
            </a:r>
            <a:endParaRPr lang="en-US" sz="1400" dirty="0"/>
          </a:p>
        </p:txBody>
      </p:sp>
      <p:sp>
        <p:nvSpPr>
          <p:cNvPr id="23" name="Shape 13"/>
          <p:cNvSpPr/>
          <p:nvPr/>
        </p:nvSpPr>
        <p:spPr>
          <a:xfrm>
            <a:off x="9098280" y="1783080"/>
            <a:ext cx="2423160" cy="1188720"/>
          </a:xfrm>
          <a:prstGeom prst="roundRect">
            <a:avLst>
              <a:gd name="adj" fmla="val 9231"/>
            </a:avLst>
          </a:prstGeom>
          <a:solidFill>
            <a:srgbClr val="ECF5F3"/>
          </a:solidFill>
          <a:ln/>
        </p:spPr>
      </p:sp>
      <p:sp>
        <p:nvSpPr>
          <p:cNvPr id="24" name="Text 14"/>
          <p:cNvSpPr txBox="1"/>
          <p:nvPr/>
        </p:nvSpPr>
        <p:spPr>
          <a:xfrm>
            <a:off x="9281160" y="1892808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2,000+</a:t>
            </a:r>
            <a:endParaRPr lang="en-US" sz="2800" dirty="0"/>
          </a:p>
        </p:txBody>
      </p:sp>
      <p:sp>
        <p:nvSpPr>
          <p:cNvPr id="25" name="Text 15"/>
          <p:cNvSpPr txBox="1"/>
          <p:nvPr/>
        </p:nvSpPr>
        <p:spPr>
          <a:xfrm>
            <a:off x="9281160" y="2496312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teachers</a:t>
            </a:r>
            <a:endParaRPr lang="en-US" sz="1400" dirty="0"/>
          </a:p>
        </p:txBody>
      </p:sp>
      <p:sp>
        <p:nvSpPr>
          <p:cNvPr id="26" name="Shape 16"/>
          <p:cNvSpPr/>
          <p:nvPr/>
        </p:nvSpPr>
        <p:spPr>
          <a:xfrm>
            <a:off x="6492240" y="3154680"/>
            <a:ext cx="2423160" cy="1188720"/>
          </a:xfrm>
          <a:prstGeom prst="roundRect">
            <a:avLst>
              <a:gd name="adj" fmla="val 9231"/>
            </a:avLst>
          </a:prstGeom>
          <a:solidFill>
            <a:srgbClr val="ECF5F3"/>
          </a:solidFill>
          <a:ln/>
        </p:spPr>
      </p:sp>
      <p:sp>
        <p:nvSpPr>
          <p:cNvPr id="27" name="Text 17"/>
          <p:cNvSpPr txBox="1"/>
          <p:nvPr/>
        </p:nvSpPr>
        <p:spPr>
          <a:xfrm>
            <a:off x="6675120" y="3264408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million+</a:t>
            </a:r>
            <a:endParaRPr lang="en-US" sz="2800" dirty="0"/>
          </a:p>
        </p:txBody>
      </p:sp>
      <p:sp>
        <p:nvSpPr>
          <p:cNvPr id="28" name="Text 18"/>
          <p:cNvSpPr txBox="1"/>
          <p:nvPr/>
        </p:nvSpPr>
        <p:spPr>
          <a:xfrm>
            <a:off x="6675120" y="3867912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</a:t>
            </a:r>
            <a:endParaRPr lang="en-US" sz="1400" dirty="0"/>
          </a:p>
        </p:txBody>
      </p:sp>
      <p:sp>
        <p:nvSpPr>
          <p:cNvPr id="29" name="Shape 19"/>
          <p:cNvSpPr/>
          <p:nvPr/>
        </p:nvSpPr>
        <p:spPr>
          <a:xfrm>
            <a:off x="9098280" y="3154680"/>
            <a:ext cx="2423160" cy="1188720"/>
          </a:xfrm>
          <a:prstGeom prst="roundRect">
            <a:avLst>
              <a:gd name="adj" fmla="val 9231"/>
            </a:avLst>
          </a:prstGeom>
          <a:solidFill>
            <a:srgbClr val="ECF5F3"/>
          </a:solidFill>
          <a:ln/>
        </p:spPr>
      </p:sp>
      <p:sp>
        <p:nvSpPr>
          <p:cNvPr id="30" name="Text 20"/>
          <p:cNvSpPr txBox="1"/>
          <p:nvPr/>
        </p:nvSpPr>
        <p:spPr>
          <a:xfrm>
            <a:off x="9281160" y="3264408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30+</a:t>
            </a:r>
            <a:endParaRPr lang="en-US" sz="2800" dirty="0"/>
          </a:p>
        </p:txBody>
      </p:sp>
      <p:sp>
        <p:nvSpPr>
          <p:cNvPr id="31" name="Text 21"/>
          <p:cNvSpPr txBox="1"/>
          <p:nvPr/>
        </p:nvSpPr>
        <p:spPr>
          <a:xfrm>
            <a:off x="9281160" y="3867912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centres</a:t>
            </a:r>
            <a:endParaRPr lang="en-US" sz="1400" dirty="0"/>
          </a:p>
        </p:txBody>
      </p:sp>
      <p:pic>
        <p:nvPicPr>
          <p:cNvPr id="32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92240" y="4736592"/>
            <a:ext cx="237744" cy="237744"/>
          </a:xfrm>
          <a:prstGeom prst="rect">
            <a:avLst/>
          </a:prstGeom>
        </p:spPr>
      </p:pic>
      <p:sp>
        <p:nvSpPr>
          <p:cNvPr id="33" name="Text 22"/>
          <p:cNvSpPr txBox="1"/>
          <p:nvPr/>
        </p:nvSpPr>
        <p:spPr>
          <a:xfrm>
            <a:off x="6903720" y="4617720"/>
            <a:ext cx="4617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Expanded beyond a single location, reaching many cities and countries.</a:t>
            </a:r>
            <a:endParaRPr lang="en-US" sz="1400" dirty="0"/>
          </a:p>
        </p:txBody>
      </p:sp>
      <p:pic>
        <p:nvPicPr>
          <p:cNvPr id="34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92240" y="5212080"/>
            <a:ext cx="237744" cy="237744"/>
          </a:xfrm>
          <a:prstGeom prst="rect">
            <a:avLst/>
          </a:prstGeom>
        </p:spPr>
      </p:pic>
      <p:sp>
        <p:nvSpPr>
          <p:cNvPr id="35" name="Text 23"/>
          <p:cNvSpPr txBox="1"/>
          <p:nvPr/>
        </p:nvSpPr>
        <p:spPr>
          <a:xfrm>
            <a:off x="6903720" y="5093208"/>
            <a:ext cx="4617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Expanded into </a:t>
            </a:r>
            <a:pPr indent="0" marL="0">
              <a:buNone/>
            </a:pPr>
            <a:r>
              <a:rPr lang="en-US" sz="14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learning centres.</a:t>
            </a:r>
            <a:endParaRPr lang="en-US" sz="1400" dirty="0"/>
          </a:p>
        </p:txBody>
      </p:sp>
      <p:pic>
        <p:nvPicPr>
          <p:cNvPr id="36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92240" y="5687568"/>
            <a:ext cx="237744" cy="237744"/>
          </a:xfrm>
          <a:prstGeom prst="rect">
            <a:avLst/>
          </a:prstGeom>
        </p:spPr>
      </p:pic>
      <p:sp>
        <p:nvSpPr>
          <p:cNvPr id="37" name="Text 24"/>
          <p:cNvSpPr txBox="1"/>
          <p:nvPr/>
        </p:nvSpPr>
        <p:spPr>
          <a:xfrm>
            <a:off x="6903720" y="5568696"/>
            <a:ext cx="4617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how e-learning can </a:t>
            </a:r>
            <a:pPr indent="0" marL="0">
              <a:buNone/>
            </a:pPr>
            <a:r>
              <a:rPr lang="en-US" sz="14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teaching</a:t>
            </a:r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beyond traditional classrooms.</a:t>
            </a:r>
            <a:endParaRPr lang="en-US" sz="1400" dirty="0"/>
          </a:p>
        </p:txBody>
      </p:sp>
      <p:sp>
        <p:nvSpPr>
          <p:cNvPr id="38" name="Text 25"/>
          <p:cNvSpPr txBox="1"/>
          <p:nvPr/>
        </p:nvSpPr>
        <p:spPr>
          <a:xfrm>
            <a:off x="6492240" y="612648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Company-reported figures; they can change over time.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CA3A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8961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Improvements and future ideas</a:t>
            </a:r>
            <a:endParaRPr lang="en-US" sz="3400" dirty="0"/>
          </a:p>
        </p:txBody>
      </p:sp>
      <p:pic>
        <p:nvPicPr>
          <p:cNvPr id="3" name="Image 0" descr="Vedantu 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29800" y="357459"/>
            <a:ext cx="1737360" cy="711547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40080" y="128016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Improvements</a:t>
            </a:r>
            <a:endParaRPr lang="en-US" sz="2200" dirty="0"/>
          </a:p>
        </p:txBody>
      </p:sp>
      <p:sp>
        <p:nvSpPr>
          <p:cNvPr id="5" name="Text 2"/>
          <p:cNvSpPr txBox="1"/>
          <p:nvPr/>
        </p:nvSpPr>
        <p:spPr>
          <a:xfrm>
            <a:off x="6263640" y="128016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ideas</a:t>
            </a:r>
            <a:endParaRPr lang="en-US" sz="22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965960"/>
            <a:ext cx="237744" cy="237744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051560" y="1783080"/>
            <a:ext cx="4892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personalized learning</a:t>
            </a:r>
            <a:pPr indent="0" marL="0"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 identify individual learning gaps.</a:t>
            </a:r>
            <a:endParaRPr lang="en-US" sz="15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569464"/>
            <a:ext cx="237744" cy="237744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1051560" y="2386584"/>
            <a:ext cx="4892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Low-bandwidth learning</a:t>
            </a:r>
            <a:pPr indent="0" marL="0"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 areas with weak internet.</a:t>
            </a:r>
            <a:endParaRPr lang="en-US" sz="15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3172968"/>
            <a:ext cx="237744" cy="237744"/>
          </a:xfrm>
          <a:prstGeom prst="rect">
            <a:avLst/>
          </a:prstGeom>
        </p:spPr>
      </p:pic>
      <p:sp>
        <p:nvSpPr>
          <p:cNvPr id="11" name="Text 5"/>
          <p:cNvSpPr txBox="1"/>
          <p:nvPr/>
        </p:nvSpPr>
        <p:spPr>
          <a:xfrm>
            <a:off x="1051560" y="2990088"/>
            <a:ext cx="4892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interactive games and activities</a:t>
            </a:r>
            <a:pPr indent="0" marL="0"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 improve engagement.</a:t>
            </a:r>
            <a:endParaRPr lang="en-US" sz="1500" dirty="0"/>
          </a:p>
        </p:txBody>
      </p:sp>
      <p:pic>
        <p:nvPicPr>
          <p:cNvPr id="1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3776472"/>
            <a:ext cx="237744" cy="237744"/>
          </a:xfrm>
          <a:prstGeom prst="rect">
            <a:avLst/>
          </a:prstGeom>
        </p:spPr>
      </p:pic>
      <p:sp>
        <p:nvSpPr>
          <p:cNvPr id="13" name="Text 6"/>
          <p:cNvSpPr txBox="1"/>
          <p:nvPr/>
        </p:nvSpPr>
        <p:spPr>
          <a:xfrm>
            <a:off x="1051560" y="3593592"/>
            <a:ext cx="4892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integration</a:t>
            </a:r>
            <a:pPr indent="0" marL="0"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of online and offline education.</a:t>
            </a:r>
            <a:endParaRPr lang="en-US" sz="1500" dirty="0"/>
          </a:p>
        </p:txBody>
      </p:sp>
      <p:pic>
        <p:nvPicPr>
          <p:cNvPr id="1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" y="4379976"/>
            <a:ext cx="237744" cy="237744"/>
          </a:xfrm>
          <a:prstGeom prst="rect">
            <a:avLst/>
          </a:prstGeom>
        </p:spPr>
      </p:pic>
      <p:sp>
        <p:nvSpPr>
          <p:cNvPr id="15" name="Text 7"/>
          <p:cNvSpPr txBox="1"/>
          <p:nvPr/>
        </p:nvSpPr>
        <p:spPr>
          <a:xfrm>
            <a:off x="1051560" y="4197096"/>
            <a:ext cx="4892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Clearer parent/student</a:t>
            </a:r>
            <a:pPr indent="0" marL="0"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progress reports.</a:t>
            </a:r>
            <a:endParaRPr lang="en-US" sz="1500" dirty="0"/>
          </a:p>
        </p:txBody>
      </p:sp>
      <p:pic>
        <p:nvPicPr>
          <p:cNvPr id="1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0080" y="4983480"/>
            <a:ext cx="237744" cy="237744"/>
          </a:xfrm>
          <a:prstGeom prst="rect">
            <a:avLst/>
          </a:prstGeom>
        </p:spPr>
      </p:pic>
      <p:sp>
        <p:nvSpPr>
          <p:cNvPr id="17" name="Text 8"/>
          <p:cNvSpPr txBox="1"/>
          <p:nvPr/>
        </p:nvSpPr>
        <p:spPr>
          <a:xfrm>
            <a:off x="1051560" y="4800600"/>
            <a:ext cx="4892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privacy</a:t>
            </a:r>
            <a:pPr indent="0" marL="0"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digital-safety measures.</a:t>
            </a:r>
            <a:endParaRPr lang="en-US" sz="1500" dirty="0"/>
          </a:p>
        </p:txBody>
      </p:sp>
      <p:pic>
        <p:nvPicPr>
          <p:cNvPr id="18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0080" y="5586984"/>
            <a:ext cx="237744" cy="237744"/>
          </a:xfrm>
          <a:prstGeom prst="rect">
            <a:avLst/>
          </a:prstGeom>
        </p:spPr>
      </p:pic>
      <p:sp>
        <p:nvSpPr>
          <p:cNvPr id="19" name="Text 9"/>
          <p:cNvSpPr txBox="1"/>
          <p:nvPr/>
        </p:nvSpPr>
        <p:spPr>
          <a:xfrm>
            <a:off x="1051560" y="5404104"/>
            <a:ext cx="4892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affordable options</a:t>
            </a:r>
            <a:pPr indent="0" marL="0"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 students from different economic backgrounds.</a:t>
            </a:r>
            <a:endParaRPr lang="en-US" sz="1500" dirty="0"/>
          </a:p>
        </p:txBody>
      </p:sp>
      <p:pic>
        <p:nvPicPr>
          <p:cNvPr id="2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63640" y="1965960"/>
            <a:ext cx="237744" cy="237744"/>
          </a:xfrm>
          <a:prstGeom prst="rect">
            <a:avLst/>
          </a:prstGeom>
        </p:spPr>
      </p:pic>
      <p:sp>
        <p:nvSpPr>
          <p:cNvPr id="21" name="Text 10"/>
          <p:cNvSpPr txBox="1"/>
          <p:nvPr/>
        </p:nvSpPr>
        <p:spPr>
          <a:xfrm>
            <a:off x="6675120" y="1783080"/>
            <a:ext cx="4892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learning community</a:t>
            </a:r>
            <a:pPr indent="0" marL="0"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connect students and teachers worldwide.</a:t>
            </a:r>
            <a:endParaRPr lang="en-US" sz="1500" dirty="0"/>
          </a:p>
        </p:txBody>
      </p:sp>
      <p:pic>
        <p:nvPicPr>
          <p:cNvPr id="22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263640" y="2569464"/>
            <a:ext cx="237744" cy="237744"/>
          </a:xfrm>
          <a:prstGeom prst="rect">
            <a:avLst/>
          </a:prstGeom>
        </p:spPr>
      </p:pic>
      <p:sp>
        <p:nvSpPr>
          <p:cNvPr id="23" name="Text 11"/>
          <p:cNvSpPr txBox="1"/>
          <p:nvPr/>
        </p:nvSpPr>
        <p:spPr>
          <a:xfrm>
            <a:off x="6675120" y="2386584"/>
            <a:ext cx="4892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AR/VR learning experiences</a:t>
            </a:r>
            <a:pPr indent="0" marL="0"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 immersive education.</a:t>
            </a:r>
            <a:endParaRPr lang="en-US" sz="1500" dirty="0"/>
          </a:p>
        </p:txBody>
      </p:sp>
      <p:pic>
        <p:nvPicPr>
          <p:cNvPr id="24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263640" y="3172968"/>
            <a:ext cx="237744" cy="237744"/>
          </a:xfrm>
          <a:prstGeom prst="rect">
            <a:avLst/>
          </a:prstGeom>
        </p:spPr>
      </p:pic>
      <p:sp>
        <p:nvSpPr>
          <p:cNvPr id="25" name="Text 12"/>
          <p:cNvSpPr txBox="1"/>
          <p:nvPr/>
        </p:nvSpPr>
        <p:spPr>
          <a:xfrm>
            <a:off x="6675120" y="2990088"/>
            <a:ext cx="4892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AI tutors</a:t>
            </a:r>
            <a:pPr indent="0" marL="0"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with real-time doubt solving.</a:t>
            </a:r>
            <a:endParaRPr lang="en-US" sz="1500" dirty="0"/>
          </a:p>
        </p:txBody>
      </p:sp>
      <p:pic>
        <p:nvPicPr>
          <p:cNvPr id="26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263640" y="3776472"/>
            <a:ext cx="237744" cy="237744"/>
          </a:xfrm>
          <a:prstGeom prst="rect">
            <a:avLst/>
          </a:prstGeom>
        </p:spPr>
      </p:pic>
      <p:sp>
        <p:nvSpPr>
          <p:cNvPr id="27" name="Text 13"/>
          <p:cNvSpPr txBox="1"/>
          <p:nvPr/>
        </p:nvSpPr>
        <p:spPr>
          <a:xfrm>
            <a:off x="6675120" y="3593592"/>
            <a:ext cx="4892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analytics</a:t>
            </a:r>
            <a:pPr indent="0" marL="0"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 better career guidance.</a:t>
            </a:r>
            <a:endParaRPr lang="en-US" sz="1500" dirty="0"/>
          </a:p>
        </p:txBody>
      </p:sp>
      <p:pic>
        <p:nvPicPr>
          <p:cNvPr id="28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263640" y="4379976"/>
            <a:ext cx="237744" cy="237744"/>
          </a:xfrm>
          <a:prstGeom prst="rect">
            <a:avLst/>
          </a:prstGeom>
        </p:spPr>
      </p:pic>
      <p:sp>
        <p:nvSpPr>
          <p:cNvPr id="29" name="Text 14"/>
          <p:cNvSpPr txBox="1"/>
          <p:nvPr/>
        </p:nvSpPr>
        <p:spPr>
          <a:xfrm>
            <a:off x="6675120" y="4197096"/>
            <a:ext cx="4892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learning formats</a:t>
            </a:r>
            <a:pPr indent="0" marL="0"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like short videos, podcasts and micro-lessons.</a:t>
            </a:r>
            <a:endParaRPr lang="en-US" sz="1500" dirty="0"/>
          </a:p>
        </p:txBody>
      </p:sp>
      <p:pic>
        <p:nvPicPr>
          <p:cNvPr id="30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263640" y="4983480"/>
            <a:ext cx="237744" cy="237744"/>
          </a:xfrm>
          <a:prstGeom prst="rect">
            <a:avLst/>
          </a:prstGeom>
        </p:spPr>
      </p:pic>
      <p:sp>
        <p:nvSpPr>
          <p:cNvPr id="31" name="Text 15"/>
          <p:cNvSpPr txBox="1"/>
          <p:nvPr/>
        </p:nvSpPr>
        <p:spPr>
          <a:xfrm>
            <a:off x="6675120" y="4800600"/>
            <a:ext cx="4892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Stronger community features</a:t>
            </a:r>
            <a:pPr indent="0" marL="0"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 peer learning and mentorship.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CA3A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 schemes in digital education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37160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Government of India has developed several initiatives to expand digital education.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1945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IMPORTANT EXAMPLES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2697480"/>
            <a:ext cx="2834640" cy="713232"/>
          </a:xfrm>
          <a:prstGeom prst="roundRect">
            <a:avLst>
              <a:gd name="adj" fmla="val 15385"/>
            </a:avLst>
          </a:prstGeom>
          <a:solidFill>
            <a:srgbClr val="ECF5F3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2697480"/>
            <a:ext cx="2468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 e-VIDYA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3630168" y="2697480"/>
            <a:ext cx="2834640" cy="713232"/>
          </a:xfrm>
          <a:prstGeom prst="roundRect">
            <a:avLst>
              <a:gd name="adj" fmla="val 15385"/>
            </a:avLst>
          </a:prstGeom>
          <a:solidFill>
            <a:srgbClr val="ECF5F3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858768" y="2697480"/>
            <a:ext cx="2468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DIKSHA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640080" y="3566160"/>
            <a:ext cx="2834640" cy="713232"/>
          </a:xfrm>
          <a:prstGeom prst="roundRect">
            <a:avLst>
              <a:gd name="adj" fmla="val 15385"/>
            </a:avLst>
          </a:prstGeom>
          <a:solidFill>
            <a:srgbClr val="ECF5F3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68680" y="3566160"/>
            <a:ext cx="2468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SWAYAM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3630168" y="3566160"/>
            <a:ext cx="2834640" cy="713232"/>
          </a:xfrm>
          <a:prstGeom prst="roundRect">
            <a:avLst>
              <a:gd name="adj" fmla="val 15385"/>
            </a:avLst>
          </a:prstGeom>
          <a:solidFill>
            <a:srgbClr val="ECF5F3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858768" y="3566160"/>
            <a:ext cx="2468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NDEAR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640080" y="4434840"/>
            <a:ext cx="2834640" cy="713232"/>
          </a:xfrm>
          <a:prstGeom prst="roundRect">
            <a:avLst>
              <a:gd name="adj" fmla="val 15385"/>
            </a:avLst>
          </a:prstGeom>
          <a:solidFill>
            <a:srgbClr val="ECF5F3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68680" y="4434840"/>
            <a:ext cx="2468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NISHTHA</a:t>
            </a:r>
            <a:endParaRPr lang="en-US" sz="1900" dirty="0"/>
          </a:p>
        </p:txBody>
      </p:sp>
      <p:sp>
        <p:nvSpPr>
          <p:cNvPr id="15" name="Shape 13"/>
          <p:cNvSpPr/>
          <p:nvPr/>
        </p:nvSpPr>
        <p:spPr>
          <a:xfrm>
            <a:off x="3630168" y="4434840"/>
            <a:ext cx="2834640" cy="713232"/>
          </a:xfrm>
          <a:prstGeom prst="roundRect">
            <a:avLst>
              <a:gd name="adj" fmla="val 15385"/>
            </a:avLst>
          </a:prstGeom>
          <a:solidFill>
            <a:srgbClr val="ECF5F3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3858768" y="4434840"/>
            <a:ext cx="2468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SWAYAM PRABHA</a:t>
            </a:r>
            <a:endParaRPr lang="en-US" sz="1900" dirty="0"/>
          </a:p>
        </p:txBody>
      </p:sp>
      <p:sp>
        <p:nvSpPr>
          <p:cNvPr id="17" name="Shape 15"/>
          <p:cNvSpPr/>
          <p:nvPr/>
        </p:nvSpPr>
        <p:spPr>
          <a:xfrm>
            <a:off x="640080" y="5303520"/>
            <a:ext cx="2834640" cy="713232"/>
          </a:xfrm>
          <a:prstGeom prst="roundRect">
            <a:avLst>
              <a:gd name="adj" fmla="val 15385"/>
            </a:avLst>
          </a:prstGeom>
          <a:solidFill>
            <a:srgbClr val="ECF5F3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68680" y="5303520"/>
            <a:ext cx="2468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Labs</a:t>
            </a:r>
            <a:endParaRPr lang="en-US" sz="1900" dirty="0"/>
          </a:p>
        </p:txBody>
      </p:sp>
      <p:pic>
        <p:nvPicPr>
          <p:cNvPr id="19" name="Image 0" descr="Digital education illustration with laptop and government buildi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0" y="2331720"/>
            <a:ext cx="4617720" cy="36576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CA3A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DIKSHA: origin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1888236"/>
            <a:ext cx="566928" cy="566928"/>
          </a:xfrm>
          <a:prstGeom prst="ellipse">
            <a:avLst/>
          </a:prstGeom>
          <a:solidFill>
            <a:srgbClr val="0F766E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151" y="2041307"/>
            <a:ext cx="260787" cy="260787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435608" y="1645920"/>
            <a:ext cx="64282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Launched in </a:t>
            </a:r>
            <a:pPr indent="0" marL="0">
              <a:buNone/>
            </a:pPr>
            <a:r>
              <a:rPr lang="en-US" sz="20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2017.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640080" y="2939796"/>
            <a:ext cx="566928" cy="566928"/>
          </a:xfrm>
          <a:prstGeom prst="ellipse">
            <a:avLst/>
          </a:prstGeom>
          <a:solidFill>
            <a:srgbClr val="0F766E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151" y="3092867"/>
            <a:ext cx="260787" cy="260787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435608" y="2697480"/>
            <a:ext cx="64282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Developed by </a:t>
            </a:r>
            <a:pPr indent="0" marL="0">
              <a:buNone/>
            </a:pPr>
            <a:r>
              <a:rPr lang="en-US" sz="20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NCERT.</a:t>
            </a:r>
            <a:endParaRPr lang="en-US" sz="2000" dirty="0"/>
          </a:p>
        </p:txBody>
      </p:sp>
      <p:sp>
        <p:nvSpPr>
          <p:cNvPr id="9" name="Shape 5"/>
          <p:cNvSpPr/>
          <p:nvPr/>
        </p:nvSpPr>
        <p:spPr>
          <a:xfrm>
            <a:off x="640080" y="3991356"/>
            <a:ext cx="566928" cy="566928"/>
          </a:xfrm>
          <a:prstGeom prst="ellipse">
            <a:avLst/>
          </a:prstGeom>
          <a:solidFill>
            <a:srgbClr val="0F766E"/>
          </a:solidFill>
          <a:ln/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151" y="4144427"/>
            <a:ext cx="260787" cy="260787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435608" y="3749040"/>
            <a:ext cx="64282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Supported by the </a:t>
            </a:r>
            <a:pPr indent="0" marL="0">
              <a:buNone/>
            </a:pPr>
            <a:r>
              <a:rPr lang="en-US" sz="20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Ministry of Education,</a:t>
            </a:r>
            <a:pPr indent="0" marL="0">
              <a:buNone/>
            </a:pPr>
            <a:r>
              <a:rPr lang="en-US" sz="2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Government of India.</a:t>
            </a:r>
            <a:endParaRPr lang="en-US" sz="2000" dirty="0"/>
          </a:p>
        </p:txBody>
      </p:sp>
      <p:sp>
        <p:nvSpPr>
          <p:cNvPr id="12" name="Shape 7"/>
          <p:cNvSpPr/>
          <p:nvPr/>
        </p:nvSpPr>
        <p:spPr>
          <a:xfrm>
            <a:off x="640080" y="5042916"/>
            <a:ext cx="566928" cy="566928"/>
          </a:xfrm>
          <a:prstGeom prst="ellipse">
            <a:avLst/>
          </a:prstGeom>
          <a:solidFill>
            <a:srgbClr val="0F766E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151" y="5195987"/>
            <a:ext cx="260787" cy="260787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1435608" y="4800600"/>
            <a:ext cx="64282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Provides </a:t>
            </a:r>
            <a:pPr indent="0" marL="0">
              <a:buNone/>
            </a:pPr>
            <a:r>
              <a:rPr lang="en-US" sz="20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learning resources</a:t>
            </a:r>
            <a:pPr indent="0" marL="0">
              <a:buNone/>
            </a:pPr>
            <a:r>
              <a:rPr lang="en-US" sz="2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 students and teachers.</a:t>
            </a:r>
            <a:endParaRPr lang="en-US" sz="2000" dirty="0"/>
          </a:p>
        </p:txBody>
      </p:sp>
      <p:sp>
        <p:nvSpPr>
          <p:cNvPr id="15" name="Shape 9"/>
          <p:cNvSpPr/>
          <p:nvPr/>
        </p:nvSpPr>
        <p:spPr>
          <a:xfrm>
            <a:off x="8412480" y="1508760"/>
            <a:ext cx="3154680" cy="246888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</p:spPr>
      </p:sp>
      <p:sp>
        <p:nvSpPr>
          <p:cNvPr id="16" name="Shape 10"/>
          <p:cNvSpPr/>
          <p:nvPr/>
        </p:nvSpPr>
        <p:spPr>
          <a:xfrm>
            <a:off x="8412480" y="1508760"/>
            <a:ext cx="3154680" cy="246888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17" name="Image 4" descr="DIKSHA logo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96384" y="1645920"/>
            <a:ext cx="1986873" cy="2194560"/>
          </a:xfrm>
          <a:prstGeom prst="rect">
            <a:avLst/>
          </a:prstGeom>
        </p:spPr>
      </p:pic>
      <p:sp>
        <p:nvSpPr>
          <p:cNvPr id="18" name="Shape 11"/>
          <p:cNvSpPr/>
          <p:nvPr/>
        </p:nvSpPr>
        <p:spPr>
          <a:xfrm>
            <a:off x="8412480" y="4160520"/>
            <a:ext cx="3154680" cy="1828800"/>
          </a:xfrm>
          <a:prstGeom prst="roundRect">
            <a:avLst>
              <a:gd name="adj" fmla="val 6000"/>
            </a:avLst>
          </a:prstGeom>
          <a:solidFill>
            <a:srgbClr val="123F3B"/>
          </a:solidFill>
          <a:ln/>
        </p:spPr>
      </p:sp>
      <p:sp>
        <p:nvSpPr>
          <p:cNvPr id="19" name="Text 12"/>
          <p:cNvSpPr txBox="1"/>
          <p:nvPr/>
        </p:nvSpPr>
        <p:spPr>
          <a:xfrm>
            <a:off x="8412480" y="4297680"/>
            <a:ext cx="3154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2017</a:t>
            </a:r>
            <a:endParaRPr lang="en-US" sz="5400" dirty="0"/>
          </a:p>
        </p:txBody>
      </p:sp>
      <p:sp>
        <p:nvSpPr>
          <p:cNvPr id="20" name="Text 13"/>
          <p:cNvSpPr txBox="1"/>
          <p:nvPr/>
        </p:nvSpPr>
        <p:spPr>
          <a:xfrm>
            <a:off x="8412480" y="521208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7C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Launched</a:t>
            </a:r>
            <a:endParaRPr lang="en-US" sz="1400" dirty="0"/>
          </a:p>
        </p:txBody>
      </p:sp>
      <p:sp>
        <p:nvSpPr>
          <p:cNvPr id="21" name="Text 14"/>
          <p:cNvSpPr txBox="1"/>
          <p:nvPr/>
        </p:nvSpPr>
        <p:spPr>
          <a:xfrm>
            <a:off x="8503920" y="553212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FD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Ministry of Education · NCERT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CA3A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9875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used in DIKSHA</a:t>
            </a:r>
            <a:endParaRPr lang="en-US" sz="3400" dirty="0"/>
          </a:p>
        </p:txBody>
      </p:sp>
      <p:pic>
        <p:nvPicPr>
          <p:cNvPr id="3" name="Image 0" descr="DIKSHA 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98480" y="251779"/>
            <a:ext cx="868680" cy="959483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40080" y="1801368"/>
            <a:ext cx="585216" cy="585216"/>
          </a:xfrm>
          <a:prstGeom prst="ellipse">
            <a:avLst/>
          </a:prstGeom>
          <a:solidFill>
            <a:srgbClr val="0F766E"/>
          </a:solidFill>
          <a:ln/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8088" y="1959376"/>
            <a:ext cx="269199" cy="269199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1453896" y="1645920"/>
            <a:ext cx="4946904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&amp; web applications</a:t>
            </a:r>
            <a:endParaRPr lang="en-US" sz="2100" dirty="0"/>
          </a:p>
        </p:txBody>
      </p:sp>
      <p:sp>
        <p:nvSpPr>
          <p:cNvPr id="7" name="Shape 3"/>
          <p:cNvSpPr/>
          <p:nvPr/>
        </p:nvSpPr>
        <p:spPr>
          <a:xfrm>
            <a:off x="640080" y="2697480"/>
            <a:ext cx="585216" cy="585216"/>
          </a:xfrm>
          <a:prstGeom prst="ellipse">
            <a:avLst/>
          </a:prstGeom>
          <a:solidFill>
            <a:srgbClr val="0F766E"/>
          </a:solidFill>
          <a:ln/>
        </p:spPr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8088" y="2855488"/>
            <a:ext cx="269199" cy="269199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1453896" y="2542032"/>
            <a:ext cx="4946904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technology</a:t>
            </a:r>
            <a:endParaRPr lang="en-US" sz="2100" dirty="0"/>
          </a:p>
        </p:txBody>
      </p:sp>
      <p:sp>
        <p:nvSpPr>
          <p:cNvPr id="10" name="Shape 5"/>
          <p:cNvSpPr/>
          <p:nvPr/>
        </p:nvSpPr>
        <p:spPr>
          <a:xfrm>
            <a:off x="640080" y="3593592"/>
            <a:ext cx="585216" cy="585216"/>
          </a:xfrm>
          <a:prstGeom prst="ellipse">
            <a:avLst/>
          </a:prstGeom>
          <a:solidFill>
            <a:srgbClr val="0F766E"/>
          </a:solidFill>
          <a:ln/>
        </p:spPr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8088" y="3751600"/>
            <a:ext cx="269199" cy="269199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1453896" y="3438144"/>
            <a:ext cx="4946904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codes</a:t>
            </a:r>
            <a:endParaRPr lang="en-US" sz="2100" dirty="0"/>
          </a:p>
        </p:txBody>
      </p:sp>
      <p:sp>
        <p:nvSpPr>
          <p:cNvPr id="13" name="Shape 7"/>
          <p:cNvSpPr/>
          <p:nvPr/>
        </p:nvSpPr>
        <p:spPr>
          <a:xfrm>
            <a:off x="640080" y="4489704"/>
            <a:ext cx="585216" cy="585216"/>
          </a:xfrm>
          <a:prstGeom prst="ellipse">
            <a:avLst/>
          </a:prstGeom>
          <a:solidFill>
            <a:srgbClr val="0F766E"/>
          </a:solidFill>
          <a:ln/>
        </p:spPr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8088" y="4647712"/>
            <a:ext cx="269199" cy="269199"/>
          </a:xfrm>
          <a:prstGeom prst="rect">
            <a:avLst/>
          </a:prstGeom>
        </p:spPr>
      </p:pic>
      <p:sp>
        <p:nvSpPr>
          <p:cNvPr id="15" name="Text 8"/>
          <p:cNvSpPr txBox="1"/>
          <p:nvPr/>
        </p:nvSpPr>
        <p:spPr>
          <a:xfrm>
            <a:off x="1453896" y="4334256"/>
            <a:ext cx="4946904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learning content</a:t>
            </a:r>
            <a:endParaRPr lang="en-US" sz="2100" dirty="0"/>
          </a:p>
        </p:txBody>
      </p:sp>
      <p:sp>
        <p:nvSpPr>
          <p:cNvPr id="16" name="Shape 9"/>
          <p:cNvSpPr/>
          <p:nvPr/>
        </p:nvSpPr>
        <p:spPr>
          <a:xfrm>
            <a:off x="640080" y="5385816"/>
            <a:ext cx="585216" cy="585216"/>
          </a:xfrm>
          <a:prstGeom prst="ellipse">
            <a:avLst/>
          </a:prstGeom>
          <a:solidFill>
            <a:srgbClr val="0F766E"/>
          </a:solidFill>
          <a:ln/>
        </p:spPr>
      </p:sp>
      <p:pic>
        <p:nvPicPr>
          <p:cNvPr id="1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8088" y="5543824"/>
            <a:ext cx="269199" cy="269199"/>
          </a:xfrm>
          <a:prstGeom prst="rect">
            <a:avLst/>
          </a:prstGeom>
        </p:spPr>
      </p:pic>
      <p:sp>
        <p:nvSpPr>
          <p:cNvPr id="18" name="Text 10"/>
          <p:cNvSpPr txBox="1"/>
          <p:nvPr/>
        </p:nvSpPr>
        <p:spPr>
          <a:xfrm>
            <a:off x="1453896" y="5230368"/>
            <a:ext cx="4946904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&amp; data analytics</a:t>
            </a:r>
            <a:endParaRPr lang="en-US" sz="2100" dirty="0"/>
          </a:p>
        </p:txBody>
      </p:sp>
      <p:pic>
        <p:nvPicPr>
          <p:cNvPr id="19" name="Image 6" descr="DIKSHA app on a tablet and phone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66560" y="1920240"/>
            <a:ext cx="4800600" cy="30175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CA3A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9875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Problems and solutions in DIKSHA</a:t>
            </a:r>
            <a:endParaRPr lang="en-US" sz="3400" dirty="0"/>
          </a:p>
        </p:txBody>
      </p:sp>
      <p:pic>
        <p:nvPicPr>
          <p:cNvPr id="3" name="Image 0" descr="DIKSHA 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98480" y="251779"/>
            <a:ext cx="868680" cy="959483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40080" y="132588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Problems</a:t>
            </a:r>
            <a:endParaRPr lang="en-US" sz="2200" dirty="0"/>
          </a:p>
        </p:txBody>
      </p:sp>
      <p:sp>
        <p:nvSpPr>
          <p:cNvPr id="5" name="Text 2"/>
          <p:cNvSpPr txBox="1"/>
          <p:nvPr/>
        </p:nvSpPr>
        <p:spPr>
          <a:xfrm>
            <a:off x="6263640" y="132588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Solutions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640080" y="1920240"/>
            <a:ext cx="4937760" cy="694944"/>
          </a:xfrm>
          <a:prstGeom prst="roundRect">
            <a:avLst>
              <a:gd name="adj" fmla="val 15789"/>
            </a:avLst>
          </a:prstGeom>
          <a:solidFill>
            <a:srgbClr val="FBF1E6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868680" y="1920240"/>
            <a:ext cx="45720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Lack of study materials</a:t>
            </a:r>
            <a:endParaRPr lang="en-US" sz="18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2130552"/>
            <a:ext cx="274320" cy="27432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6263640" y="1920240"/>
            <a:ext cx="5303520" cy="694944"/>
          </a:xfrm>
          <a:prstGeom prst="roundRect">
            <a:avLst>
              <a:gd name="adj" fmla="val 15789"/>
            </a:avLst>
          </a:prstGeom>
          <a:solidFill>
            <a:srgbClr val="ECF5F3"/>
          </a:solidFill>
          <a:ln/>
        </p:spPr>
      </p:sp>
      <p:sp>
        <p:nvSpPr>
          <p:cNvPr id="10" name="Text 6"/>
          <p:cNvSpPr txBox="1"/>
          <p:nvPr/>
        </p:nvSpPr>
        <p:spPr>
          <a:xfrm>
            <a:off x="6492240" y="1920240"/>
            <a:ext cx="49377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digital resources</a:t>
            </a:r>
            <a:endParaRPr lang="en-US" sz="1800" dirty="0"/>
          </a:p>
        </p:txBody>
      </p:sp>
      <p:sp>
        <p:nvSpPr>
          <p:cNvPr id="11" name="Shape 7"/>
          <p:cNvSpPr/>
          <p:nvPr/>
        </p:nvSpPr>
        <p:spPr>
          <a:xfrm>
            <a:off x="640080" y="2761488"/>
            <a:ext cx="4937760" cy="694944"/>
          </a:xfrm>
          <a:prstGeom prst="roundRect">
            <a:avLst>
              <a:gd name="adj" fmla="val 15789"/>
            </a:avLst>
          </a:prstGeom>
          <a:solidFill>
            <a:srgbClr val="FBF1E6"/>
          </a:solidFill>
          <a:ln/>
        </p:spPr>
      </p:sp>
      <p:sp>
        <p:nvSpPr>
          <p:cNvPr id="12" name="Text 8"/>
          <p:cNvSpPr txBox="1"/>
          <p:nvPr/>
        </p:nvSpPr>
        <p:spPr>
          <a:xfrm>
            <a:off x="868680" y="2761488"/>
            <a:ext cx="45720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access to teachers</a:t>
            </a:r>
            <a:endParaRPr lang="en-US" sz="180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0" y="2971800"/>
            <a:ext cx="274320" cy="274320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6263640" y="2761488"/>
            <a:ext cx="5303520" cy="694944"/>
          </a:xfrm>
          <a:prstGeom prst="roundRect">
            <a:avLst>
              <a:gd name="adj" fmla="val 15789"/>
            </a:avLst>
          </a:prstGeom>
          <a:solidFill>
            <a:srgbClr val="ECF5F3"/>
          </a:solidFill>
          <a:ln/>
        </p:spPr>
      </p:sp>
      <p:sp>
        <p:nvSpPr>
          <p:cNvPr id="15" name="Text 10"/>
          <p:cNvSpPr txBox="1"/>
          <p:nvPr/>
        </p:nvSpPr>
        <p:spPr>
          <a:xfrm>
            <a:off x="6492240" y="2761488"/>
            <a:ext cx="49377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learning support</a:t>
            </a:r>
            <a:endParaRPr lang="en-US" sz="1800" dirty="0"/>
          </a:p>
        </p:txBody>
      </p:sp>
      <p:sp>
        <p:nvSpPr>
          <p:cNvPr id="16" name="Shape 11"/>
          <p:cNvSpPr/>
          <p:nvPr/>
        </p:nvSpPr>
        <p:spPr>
          <a:xfrm>
            <a:off x="640080" y="3602736"/>
            <a:ext cx="4937760" cy="694944"/>
          </a:xfrm>
          <a:prstGeom prst="roundRect">
            <a:avLst>
              <a:gd name="adj" fmla="val 15789"/>
            </a:avLst>
          </a:prstGeom>
          <a:solidFill>
            <a:srgbClr val="FBF1E6"/>
          </a:solidFill>
          <a:ln/>
        </p:spPr>
      </p:sp>
      <p:sp>
        <p:nvSpPr>
          <p:cNvPr id="17" name="Text 12"/>
          <p:cNvSpPr txBox="1"/>
          <p:nvPr/>
        </p:nvSpPr>
        <p:spPr>
          <a:xfrm>
            <a:off x="868680" y="3602736"/>
            <a:ext cx="45720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Difficulty accessing textbooks</a:t>
            </a:r>
            <a:endParaRPr lang="en-US" sz="1800" dirty="0"/>
          </a:p>
        </p:txBody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0720" y="3813048"/>
            <a:ext cx="274320" cy="274320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6263640" y="3602736"/>
            <a:ext cx="5303520" cy="694944"/>
          </a:xfrm>
          <a:prstGeom prst="roundRect">
            <a:avLst>
              <a:gd name="adj" fmla="val 15789"/>
            </a:avLst>
          </a:prstGeom>
          <a:solidFill>
            <a:srgbClr val="ECF5F3"/>
          </a:solidFill>
          <a:ln/>
        </p:spPr>
      </p:sp>
      <p:sp>
        <p:nvSpPr>
          <p:cNvPr id="20" name="Text 14"/>
          <p:cNvSpPr txBox="1"/>
          <p:nvPr/>
        </p:nvSpPr>
        <p:spPr>
          <a:xfrm>
            <a:off x="6492240" y="3602736"/>
            <a:ext cx="49377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QR-code based content</a:t>
            </a:r>
            <a:endParaRPr lang="en-US" sz="1800" dirty="0"/>
          </a:p>
        </p:txBody>
      </p:sp>
      <p:sp>
        <p:nvSpPr>
          <p:cNvPr id="21" name="Shape 15"/>
          <p:cNvSpPr/>
          <p:nvPr/>
        </p:nvSpPr>
        <p:spPr>
          <a:xfrm>
            <a:off x="640080" y="4443984"/>
            <a:ext cx="4937760" cy="694944"/>
          </a:xfrm>
          <a:prstGeom prst="roundRect">
            <a:avLst>
              <a:gd name="adj" fmla="val 15789"/>
            </a:avLst>
          </a:prstGeom>
          <a:solidFill>
            <a:srgbClr val="FBF1E6"/>
          </a:solidFill>
          <a:ln/>
        </p:spPr>
      </p:sp>
      <p:sp>
        <p:nvSpPr>
          <p:cNvPr id="22" name="Text 16"/>
          <p:cNvSpPr txBox="1"/>
          <p:nvPr/>
        </p:nvSpPr>
        <p:spPr>
          <a:xfrm>
            <a:off x="868680" y="4443984"/>
            <a:ext cx="45720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problems</a:t>
            </a:r>
            <a:endParaRPr lang="en-US" sz="1800" dirty="0"/>
          </a:p>
        </p:txBody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60720" y="4654296"/>
            <a:ext cx="274320" cy="274320"/>
          </a:xfrm>
          <a:prstGeom prst="rect">
            <a:avLst/>
          </a:prstGeom>
        </p:spPr>
      </p:pic>
      <p:sp>
        <p:nvSpPr>
          <p:cNvPr id="24" name="Shape 17"/>
          <p:cNvSpPr/>
          <p:nvPr/>
        </p:nvSpPr>
        <p:spPr>
          <a:xfrm>
            <a:off x="6263640" y="4443984"/>
            <a:ext cx="5303520" cy="694944"/>
          </a:xfrm>
          <a:prstGeom prst="roundRect">
            <a:avLst>
              <a:gd name="adj" fmla="val 15789"/>
            </a:avLst>
          </a:prstGeom>
          <a:solidFill>
            <a:srgbClr val="ECF5F3"/>
          </a:solidFill>
          <a:ln/>
        </p:spPr>
      </p:sp>
      <p:sp>
        <p:nvSpPr>
          <p:cNvPr id="25" name="Text 18"/>
          <p:cNvSpPr txBox="1"/>
          <p:nvPr/>
        </p:nvSpPr>
        <p:spPr>
          <a:xfrm>
            <a:off x="6492240" y="4443984"/>
            <a:ext cx="49377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in multiple Indian languages</a:t>
            </a:r>
            <a:endParaRPr lang="en-US" sz="1800" dirty="0"/>
          </a:p>
        </p:txBody>
      </p:sp>
      <p:sp>
        <p:nvSpPr>
          <p:cNvPr id="26" name="Shape 19"/>
          <p:cNvSpPr/>
          <p:nvPr/>
        </p:nvSpPr>
        <p:spPr>
          <a:xfrm>
            <a:off x="640080" y="5285232"/>
            <a:ext cx="4937760" cy="694944"/>
          </a:xfrm>
          <a:prstGeom prst="roundRect">
            <a:avLst>
              <a:gd name="adj" fmla="val 15789"/>
            </a:avLst>
          </a:prstGeom>
          <a:solidFill>
            <a:srgbClr val="FBF1E6"/>
          </a:solidFill>
          <a:ln/>
        </p:spPr>
      </p:sp>
      <p:sp>
        <p:nvSpPr>
          <p:cNvPr id="27" name="Text 20"/>
          <p:cNvSpPr txBox="1"/>
          <p:nvPr/>
        </p:nvSpPr>
        <p:spPr>
          <a:xfrm>
            <a:off x="868680" y="5285232"/>
            <a:ext cx="45720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training difficulties</a:t>
            </a:r>
            <a:endParaRPr lang="en-US" sz="1800" dirty="0"/>
          </a:p>
        </p:txBody>
      </p:sp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60720" y="5495544"/>
            <a:ext cx="274320" cy="274320"/>
          </a:xfrm>
          <a:prstGeom prst="rect">
            <a:avLst/>
          </a:prstGeom>
        </p:spPr>
      </p:pic>
      <p:sp>
        <p:nvSpPr>
          <p:cNvPr id="29" name="Shape 21"/>
          <p:cNvSpPr/>
          <p:nvPr/>
        </p:nvSpPr>
        <p:spPr>
          <a:xfrm>
            <a:off x="6263640" y="5285232"/>
            <a:ext cx="5303520" cy="694944"/>
          </a:xfrm>
          <a:prstGeom prst="roundRect">
            <a:avLst>
              <a:gd name="adj" fmla="val 15789"/>
            </a:avLst>
          </a:prstGeom>
          <a:solidFill>
            <a:srgbClr val="ECF5F3"/>
          </a:solidFill>
          <a:ln/>
        </p:spPr>
      </p:sp>
      <p:sp>
        <p:nvSpPr>
          <p:cNvPr id="30" name="Text 22"/>
          <p:cNvSpPr txBox="1"/>
          <p:nvPr/>
        </p:nvSpPr>
        <p:spPr>
          <a:xfrm>
            <a:off x="6492240" y="5285232"/>
            <a:ext cx="49377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teacher training courses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CA3A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E-learning platform vs government school</a:t>
            </a:r>
            <a:endParaRPr lang="en-US" sz="3400" dirty="0"/>
          </a:p>
        </p:txBody>
      </p:sp>
      <p:pic>
        <p:nvPicPr>
          <p:cNvPr id="3" name="Image 0" descr="Student learning onli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2331720"/>
            <a:ext cx="1463040" cy="2468880"/>
          </a:xfrm>
          <a:prstGeom prst="rect">
            <a:avLst/>
          </a:prstGeom>
        </p:spPr>
      </p:pic>
      <p:pic>
        <p:nvPicPr>
          <p:cNvPr id="4" name="Image 1" descr="Teacher in a classroom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4120" y="2331720"/>
            <a:ext cx="1463040" cy="246888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2240280" y="1417320"/>
            <a:ext cx="3474720" cy="685800"/>
          </a:xfrm>
          <a:prstGeom prst="roundRect">
            <a:avLst>
              <a:gd name="adj" fmla="val 16000"/>
            </a:avLst>
          </a:prstGeom>
          <a:solidFill>
            <a:srgbClr val="0F766E"/>
          </a:solidFill>
          <a:ln/>
        </p:spPr>
      </p:sp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8880" y="1600200"/>
            <a:ext cx="320040" cy="320040"/>
          </a:xfrm>
          <a:prstGeom prst="rect">
            <a:avLst/>
          </a:prstGeom>
        </p:spPr>
      </p:pic>
      <p:sp>
        <p:nvSpPr>
          <p:cNvPr id="7" name="Text 2"/>
          <p:cNvSpPr txBox="1"/>
          <p:nvPr/>
        </p:nvSpPr>
        <p:spPr>
          <a:xfrm>
            <a:off x="2971800" y="141732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E-learning platform</a:t>
            </a:r>
            <a:endParaRPr lang="en-US" sz="1900" dirty="0"/>
          </a:p>
        </p:txBody>
      </p:sp>
      <p:sp>
        <p:nvSpPr>
          <p:cNvPr id="8" name="Shape 3"/>
          <p:cNvSpPr/>
          <p:nvPr/>
        </p:nvSpPr>
        <p:spPr>
          <a:xfrm>
            <a:off x="6473952" y="1417320"/>
            <a:ext cx="3474720" cy="685800"/>
          </a:xfrm>
          <a:prstGeom prst="roundRect">
            <a:avLst>
              <a:gd name="adj" fmla="val 16000"/>
            </a:avLst>
          </a:prstGeom>
          <a:solidFill>
            <a:srgbClr val="B45309"/>
          </a:solidFill>
          <a:ln/>
        </p:spPr>
      </p:sp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02552" y="1600200"/>
            <a:ext cx="320040" cy="320040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7205472" y="141732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 school</a:t>
            </a:r>
            <a:endParaRPr lang="en-US" sz="1900" dirty="0"/>
          </a:p>
        </p:txBody>
      </p:sp>
      <p:sp>
        <p:nvSpPr>
          <p:cNvPr id="11" name="Shape 5"/>
          <p:cNvSpPr/>
          <p:nvPr/>
        </p:nvSpPr>
        <p:spPr>
          <a:xfrm>
            <a:off x="5812841" y="1481328"/>
            <a:ext cx="566928" cy="566928"/>
          </a:xfrm>
          <a:prstGeom prst="ellipse">
            <a:avLst/>
          </a:prstGeom>
          <a:solidFill>
            <a:srgbClr val="1F2933"/>
          </a:solidFill>
          <a:ln/>
        </p:spPr>
      </p:sp>
      <p:sp>
        <p:nvSpPr>
          <p:cNvPr id="12" name="Text 6"/>
          <p:cNvSpPr txBox="1"/>
          <p:nvPr/>
        </p:nvSpPr>
        <p:spPr>
          <a:xfrm>
            <a:off x="5812841" y="14813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1400" dirty="0"/>
          </a:p>
        </p:txBody>
      </p:sp>
      <p:sp>
        <p:nvSpPr>
          <p:cNvPr id="13" name="Shape 7"/>
          <p:cNvSpPr/>
          <p:nvPr/>
        </p:nvSpPr>
        <p:spPr>
          <a:xfrm>
            <a:off x="2240280" y="2331720"/>
            <a:ext cx="3474720" cy="566928"/>
          </a:xfrm>
          <a:prstGeom prst="roundRect">
            <a:avLst>
              <a:gd name="adj" fmla="val 19355"/>
            </a:avLst>
          </a:prstGeom>
          <a:solidFill>
            <a:srgbClr val="ECF5F3"/>
          </a:solidFill>
          <a:ln/>
        </p:spPr>
      </p:sp>
      <p:sp>
        <p:nvSpPr>
          <p:cNvPr id="14" name="Text 8"/>
          <p:cNvSpPr txBox="1"/>
          <p:nvPr/>
        </p:nvSpPr>
        <p:spPr>
          <a:xfrm>
            <a:off x="2423160" y="2331720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learning</a:t>
            </a:r>
            <a:endParaRPr lang="en-US" sz="1600" dirty="0"/>
          </a:p>
        </p:txBody>
      </p:sp>
      <p:sp>
        <p:nvSpPr>
          <p:cNvPr id="15" name="Shape 9"/>
          <p:cNvSpPr/>
          <p:nvPr/>
        </p:nvSpPr>
        <p:spPr>
          <a:xfrm>
            <a:off x="6473952" y="2331720"/>
            <a:ext cx="3474720" cy="566928"/>
          </a:xfrm>
          <a:prstGeom prst="roundRect">
            <a:avLst>
              <a:gd name="adj" fmla="val 19355"/>
            </a:avLst>
          </a:prstGeom>
          <a:solidFill>
            <a:srgbClr val="FBF1E6"/>
          </a:solidFill>
          <a:ln/>
        </p:spPr>
      </p:sp>
      <p:sp>
        <p:nvSpPr>
          <p:cNvPr id="16" name="Text 10"/>
          <p:cNvSpPr txBox="1"/>
          <p:nvPr/>
        </p:nvSpPr>
        <p:spPr>
          <a:xfrm>
            <a:off x="6656832" y="2331720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Offline/classroom learning</a:t>
            </a:r>
            <a:endParaRPr lang="en-US" sz="1600" dirty="0"/>
          </a:p>
        </p:txBody>
      </p:sp>
      <p:sp>
        <p:nvSpPr>
          <p:cNvPr id="17" name="Shape 11"/>
          <p:cNvSpPr/>
          <p:nvPr/>
        </p:nvSpPr>
        <p:spPr>
          <a:xfrm>
            <a:off x="2240280" y="3008376"/>
            <a:ext cx="3474720" cy="566928"/>
          </a:xfrm>
          <a:prstGeom prst="roundRect">
            <a:avLst>
              <a:gd name="adj" fmla="val 19355"/>
            </a:avLst>
          </a:prstGeom>
          <a:solidFill>
            <a:srgbClr val="ECF5F3"/>
          </a:solidFill>
          <a:ln/>
        </p:spPr>
      </p:sp>
      <p:sp>
        <p:nvSpPr>
          <p:cNvPr id="18" name="Text 12"/>
          <p:cNvSpPr txBox="1"/>
          <p:nvPr/>
        </p:nvSpPr>
        <p:spPr>
          <a:xfrm>
            <a:off x="2423160" y="3008376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mobile/computer</a:t>
            </a:r>
            <a:endParaRPr lang="en-US" sz="1600" dirty="0"/>
          </a:p>
        </p:txBody>
      </p:sp>
      <p:sp>
        <p:nvSpPr>
          <p:cNvPr id="19" name="Shape 13"/>
          <p:cNvSpPr/>
          <p:nvPr/>
        </p:nvSpPr>
        <p:spPr>
          <a:xfrm>
            <a:off x="6473952" y="3008376"/>
            <a:ext cx="3474720" cy="566928"/>
          </a:xfrm>
          <a:prstGeom prst="roundRect">
            <a:avLst>
              <a:gd name="adj" fmla="val 19355"/>
            </a:avLst>
          </a:prstGeom>
          <a:solidFill>
            <a:srgbClr val="FBF1E6"/>
          </a:solidFill>
          <a:ln/>
        </p:spPr>
      </p:sp>
      <p:sp>
        <p:nvSpPr>
          <p:cNvPr id="20" name="Text 14"/>
          <p:cNvSpPr txBox="1"/>
          <p:nvPr/>
        </p:nvSpPr>
        <p:spPr>
          <a:xfrm>
            <a:off x="6656832" y="3008376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teaches face-to-face</a:t>
            </a:r>
            <a:endParaRPr lang="en-US" sz="1600" dirty="0"/>
          </a:p>
        </p:txBody>
      </p:sp>
      <p:sp>
        <p:nvSpPr>
          <p:cNvPr id="21" name="Shape 15"/>
          <p:cNvSpPr/>
          <p:nvPr/>
        </p:nvSpPr>
        <p:spPr>
          <a:xfrm>
            <a:off x="2240280" y="3685032"/>
            <a:ext cx="3474720" cy="566928"/>
          </a:xfrm>
          <a:prstGeom prst="roundRect">
            <a:avLst>
              <a:gd name="adj" fmla="val 19355"/>
            </a:avLst>
          </a:prstGeom>
          <a:solidFill>
            <a:srgbClr val="ECF5F3"/>
          </a:solidFill>
          <a:ln/>
        </p:spPr>
      </p:sp>
      <p:sp>
        <p:nvSpPr>
          <p:cNvPr id="22" name="Text 16"/>
          <p:cNvSpPr txBox="1"/>
          <p:nvPr/>
        </p:nvSpPr>
        <p:spPr>
          <a:xfrm>
            <a:off x="2423160" y="3685032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from anywhere</a:t>
            </a:r>
            <a:endParaRPr lang="en-US" sz="1600" dirty="0"/>
          </a:p>
        </p:txBody>
      </p:sp>
      <p:sp>
        <p:nvSpPr>
          <p:cNvPr id="23" name="Shape 17"/>
          <p:cNvSpPr/>
          <p:nvPr/>
        </p:nvSpPr>
        <p:spPr>
          <a:xfrm>
            <a:off x="6473952" y="3685032"/>
            <a:ext cx="3474720" cy="566928"/>
          </a:xfrm>
          <a:prstGeom prst="roundRect">
            <a:avLst>
              <a:gd name="adj" fmla="val 19355"/>
            </a:avLst>
          </a:prstGeom>
          <a:solidFill>
            <a:srgbClr val="FBF1E6"/>
          </a:solidFill>
          <a:ln/>
        </p:spPr>
      </p:sp>
      <p:sp>
        <p:nvSpPr>
          <p:cNvPr id="24" name="Text 18"/>
          <p:cNvSpPr txBox="1"/>
          <p:nvPr/>
        </p:nvSpPr>
        <p:spPr>
          <a:xfrm>
            <a:off x="6656832" y="3685032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location</a:t>
            </a:r>
            <a:endParaRPr lang="en-US" sz="1600" dirty="0"/>
          </a:p>
        </p:txBody>
      </p:sp>
      <p:sp>
        <p:nvSpPr>
          <p:cNvPr id="25" name="Shape 19"/>
          <p:cNvSpPr/>
          <p:nvPr/>
        </p:nvSpPr>
        <p:spPr>
          <a:xfrm>
            <a:off x="2240280" y="4361688"/>
            <a:ext cx="3474720" cy="566928"/>
          </a:xfrm>
          <a:prstGeom prst="roundRect">
            <a:avLst>
              <a:gd name="adj" fmla="val 19355"/>
            </a:avLst>
          </a:prstGeom>
          <a:solidFill>
            <a:srgbClr val="ECF5F3"/>
          </a:solidFill>
          <a:ln/>
        </p:spPr>
      </p:sp>
      <p:sp>
        <p:nvSpPr>
          <p:cNvPr id="26" name="Text 20"/>
          <p:cNvSpPr txBox="1"/>
          <p:nvPr/>
        </p:nvSpPr>
        <p:spPr>
          <a:xfrm>
            <a:off x="2423160" y="4361688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Flexible timing</a:t>
            </a:r>
            <a:endParaRPr lang="en-US" sz="1600" dirty="0"/>
          </a:p>
        </p:txBody>
      </p:sp>
      <p:sp>
        <p:nvSpPr>
          <p:cNvPr id="27" name="Shape 21"/>
          <p:cNvSpPr/>
          <p:nvPr/>
        </p:nvSpPr>
        <p:spPr>
          <a:xfrm>
            <a:off x="6473952" y="4361688"/>
            <a:ext cx="3474720" cy="566928"/>
          </a:xfrm>
          <a:prstGeom prst="roundRect">
            <a:avLst>
              <a:gd name="adj" fmla="val 19355"/>
            </a:avLst>
          </a:prstGeom>
          <a:solidFill>
            <a:srgbClr val="FBF1E6"/>
          </a:solidFill>
          <a:ln/>
        </p:spPr>
      </p:sp>
      <p:sp>
        <p:nvSpPr>
          <p:cNvPr id="28" name="Text 22"/>
          <p:cNvSpPr txBox="1"/>
          <p:nvPr/>
        </p:nvSpPr>
        <p:spPr>
          <a:xfrm>
            <a:off x="6656832" y="4361688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school timing</a:t>
            </a:r>
            <a:endParaRPr lang="en-US" sz="1600" dirty="0"/>
          </a:p>
        </p:txBody>
      </p:sp>
      <p:sp>
        <p:nvSpPr>
          <p:cNvPr id="29" name="Shape 23"/>
          <p:cNvSpPr/>
          <p:nvPr/>
        </p:nvSpPr>
        <p:spPr>
          <a:xfrm>
            <a:off x="2240280" y="5038344"/>
            <a:ext cx="3474720" cy="566928"/>
          </a:xfrm>
          <a:prstGeom prst="roundRect">
            <a:avLst>
              <a:gd name="adj" fmla="val 19355"/>
            </a:avLst>
          </a:prstGeom>
          <a:solidFill>
            <a:srgbClr val="ECF5F3"/>
          </a:solidFill>
          <a:ln/>
        </p:spPr>
      </p:sp>
      <p:sp>
        <p:nvSpPr>
          <p:cNvPr id="30" name="Text 24"/>
          <p:cNvSpPr txBox="1"/>
          <p:nvPr/>
        </p:nvSpPr>
        <p:spPr>
          <a:xfrm>
            <a:off x="2423160" y="5038344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videos &amp; notes</a:t>
            </a:r>
            <a:endParaRPr lang="en-US" sz="1600" dirty="0"/>
          </a:p>
        </p:txBody>
      </p:sp>
      <p:sp>
        <p:nvSpPr>
          <p:cNvPr id="31" name="Shape 25"/>
          <p:cNvSpPr/>
          <p:nvPr/>
        </p:nvSpPr>
        <p:spPr>
          <a:xfrm>
            <a:off x="6473952" y="5038344"/>
            <a:ext cx="3474720" cy="566928"/>
          </a:xfrm>
          <a:prstGeom prst="roundRect">
            <a:avLst>
              <a:gd name="adj" fmla="val 19355"/>
            </a:avLst>
          </a:prstGeom>
          <a:solidFill>
            <a:srgbClr val="FBF1E6"/>
          </a:solidFill>
          <a:ln/>
        </p:spPr>
      </p:sp>
      <p:sp>
        <p:nvSpPr>
          <p:cNvPr id="32" name="Text 26"/>
          <p:cNvSpPr txBox="1"/>
          <p:nvPr/>
        </p:nvSpPr>
        <p:spPr>
          <a:xfrm>
            <a:off x="6656832" y="5038344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Books &amp; classroom activities</a:t>
            </a:r>
            <a:endParaRPr lang="en-US" sz="1600" dirty="0"/>
          </a:p>
        </p:txBody>
      </p:sp>
      <p:sp>
        <p:nvSpPr>
          <p:cNvPr id="33" name="Text 27"/>
          <p:cNvSpPr txBox="1"/>
          <p:nvPr/>
        </p:nvSpPr>
        <p:spPr>
          <a:xfrm>
            <a:off x="640080" y="58521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difference:  </a:t>
            </a:r>
            <a:pPr indent="0" marL="0">
              <a:buNone/>
            </a:pPr>
            <a:r>
              <a:rPr lang="en-US" sz="18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e-learning</a:t>
            </a:r>
            <a:pPr indent="0" marL="0">
              <a:buNone/>
            </a:pPr>
            <a:r>
              <a:rPr lang="en-US" sz="18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online     </a:t>
            </a:r>
            <a:pPr indent="0" marL="0">
              <a:buNone/>
            </a:pPr>
            <a:r>
              <a:rPr lang="en-US" sz="18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 school</a:t>
            </a:r>
            <a:pPr indent="0" marL="0">
              <a:buNone/>
            </a:pPr>
            <a:r>
              <a:rPr lang="en-US" sz="18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classroom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CA3A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improve government schools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1645920"/>
            <a:ext cx="640080" cy="64008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6459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1554480" y="1554480"/>
            <a:ext cx="6217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</a:t>
            </a:r>
            <a:pPr indent="0" marL="0">
              <a:buNone/>
            </a:pPr>
            <a:r>
              <a:rPr lang="en-US" sz="22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classrooms</a:t>
            </a:r>
            <a:pPr indent="0" marL="0">
              <a:buNone/>
            </a:pPr>
            <a:r>
              <a:rPr lang="en-US" sz="2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computers.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640080" cy="64008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40080" y="25603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1554480" y="2468880"/>
            <a:ext cx="6217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</a:t>
            </a:r>
            <a:pPr indent="0" marL="0">
              <a:buNone/>
            </a:pPr>
            <a:r>
              <a:rPr lang="en-US" sz="22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training.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640080" y="3474720"/>
            <a:ext cx="640080" cy="64008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0080" y="3474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1554480" y="3383280"/>
            <a:ext cx="6217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</a:t>
            </a:r>
            <a:pPr indent="0" marL="0">
              <a:buNone/>
            </a:pPr>
            <a:r>
              <a:rPr lang="en-US" sz="22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study materials.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640080" y="4389120"/>
            <a:ext cx="640080" cy="64008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0080" y="4389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1554480" y="4297680"/>
            <a:ext cx="6217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</a:t>
            </a:r>
            <a:pPr indent="0" marL="0">
              <a:buNone/>
            </a:pPr>
            <a:r>
              <a:rPr lang="en-US" sz="22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 and electricity</a:t>
            </a:r>
            <a:pPr indent="0" marL="0">
              <a:buNone/>
            </a:pPr>
            <a:r>
              <a:rPr lang="en-US" sz="2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facilities.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640080" y="5303520"/>
            <a:ext cx="640080" cy="64008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40080" y="53035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1554480" y="5212080"/>
            <a:ext cx="6217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</a:t>
            </a:r>
            <a:pPr indent="0" marL="0">
              <a:buNone/>
            </a:pPr>
            <a:r>
              <a:rPr lang="en-US" sz="22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 support</a:t>
            </a:r>
            <a:pPr indent="0" marL="0">
              <a:buNone/>
            </a:pPr>
            <a:r>
              <a:rPr lang="en-US" sz="2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 weak students.</a:t>
            </a:r>
            <a:endParaRPr lang="en-US" sz="2200" dirty="0"/>
          </a:p>
        </p:txBody>
      </p:sp>
      <p:pic>
        <p:nvPicPr>
          <p:cNvPr id="18" name="Image 0" descr="Classroom with a smart boar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0" y="1554480"/>
            <a:ext cx="3154680" cy="3840480"/>
          </a:xfrm>
          <a:prstGeom prst="rect">
            <a:avLst/>
          </a:prstGeom>
        </p:spPr>
      </p:pic>
      <p:sp>
        <p:nvSpPr>
          <p:cNvPr id="19" name="Text 16"/>
          <p:cNvSpPr txBox="1"/>
          <p:nvPr/>
        </p:nvSpPr>
        <p:spPr>
          <a:xfrm>
            <a:off x="8412480" y="548640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schools, brighter futures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CA3A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and critical analysis: advantages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1600200"/>
            <a:ext cx="3474720" cy="4434840"/>
          </a:xfrm>
          <a:prstGeom prst="roundRect">
            <a:avLst>
              <a:gd name="adj" fmla="val 3158"/>
            </a:avLst>
          </a:prstGeom>
          <a:solidFill>
            <a:srgbClr val="ECF5F3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1828800"/>
            <a:ext cx="640080" cy="640080"/>
          </a:xfrm>
          <a:prstGeom prst="ellipse">
            <a:avLst/>
          </a:prstGeom>
          <a:solidFill>
            <a:srgbClr val="0F766E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7222" y="2001622"/>
            <a:ext cx="294437" cy="294437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91640" y="182880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students</a:t>
            </a:r>
            <a:endParaRPr lang="en-US" sz="22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935224"/>
            <a:ext cx="237744" cy="237744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325880" y="2743200"/>
            <a:ext cx="2606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learning</a:t>
            </a:r>
            <a:endParaRPr lang="en-US" sz="16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557016"/>
            <a:ext cx="237744" cy="237744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1325880" y="3364992"/>
            <a:ext cx="2606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Flexible access</a:t>
            </a:r>
            <a:endParaRPr lang="en-US" sz="160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4178808"/>
            <a:ext cx="237744" cy="237744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1325880" y="3986784"/>
            <a:ext cx="2606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learning resources</a:t>
            </a:r>
            <a:endParaRPr lang="en-US" sz="160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4800600"/>
            <a:ext cx="237744" cy="237744"/>
          </a:xfrm>
          <a:prstGeom prst="rect">
            <a:avLst/>
          </a:prstGeom>
        </p:spPr>
      </p:pic>
      <p:sp>
        <p:nvSpPr>
          <p:cNvPr id="14" name="Text 7"/>
          <p:cNvSpPr txBox="1"/>
          <p:nvPr/>
        </p:nvSpPr>
        <p:spPr>
          <a:xfrm>
            <a:off x="1325880" y="4608576"/>
            <a:ext cx="2606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activities</a:t>
            </a:r>
            <a:endParaRPr lang="en-US" sz="1600" dirty="0"/>
          </a:p>
        </p:txBody>
      </p:sp>
      <p:pic>
        <p:nvPicPr>
          <p:cNvPr id="1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400" y="5422392"/>
            <a:ext cx="237744" cy="237744"/>
          </a:xfrm>
          <a:prstGeom prst="rect">
            <a:avLst/>
          </a:prstGeom>
        </p:spPr>
      </p:pic>
      <p:sp>
        <p:nvSpPr>
          <p:cNvPr id="16" name="Text 8"/>
          <p:cNvSpPr txBox="1"/>
          <p:nvPr/>
        </p:nvSpPr>
        <p:spPr>
          <a:xfrm>
            <a:off x="1325880" y="5230368"/>
            <a:ext cx="2606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Self-paced revision</a:t>
            </a:r>
            <a:endParaRPr lang="en-US" sz="1600" dirty="0"/>
          </a:p>
        </p:txBody>
      </p:sp>
      <p:sp>
        <p:nvSpPr>
          <p:cNvPr id="17" name="Shape 9"/>
          <p:cNvSpPr/>
          <p:nvPr/>
        </p:nvSpPr>
        <p:spPr>
          <a:xfrm>
            <a:off x="4357116" y="1600200"/>
            <a:ext cx="3474720" cy="4434840"/>
          </a:xfrm>
          <a:prstGeom prst="roundRect">
            <a:avLst>
              <a:gd name="adj" fmla="val 3158"/>
            </a:avLst>
          </a:prstGeom>
          <a:solidFill>
            <a:srgbClr val="ECF5F3"/>
          </a:solidFill>
          <a:ln/>
        </p:spPr>
      </p:sp>
      <p:sp>
        <p:nvSpPr>
          <p:cNvPr id="18" name="Shape 10"/>
          <p:cNvSpPr/>
          <p:nvPr/>
        </p:nvSpPr>
        <p:spPr>
          <a:xfrm>
            <a:off x="4631436" y="1828800"/>
            <a:ext cx="640080" cy="640080"/>
          </a:xfrm>
          <a:prstGeom prst="ellipse">
            <a:avLst/>
          </a:prstGeom>
          <a:solidFill>
            <a:srgbClr val="0F766E"/>
          </a:solidFill>
          <a:ln/>
        </p:spPr>
      </p:sp>
      <p:pic>
        <p:nvPicPr>
          <p:cNvPr id="1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04258" y="2001622"/>
            <a:ext cx="294437" cy="294437"/>
          </a:xfrm>
          <a:prstGeom prst="rect">
            <a:avLst/>
          </a:prstGeom>
        </p:spPr>
      </p:pic>
      <p:sp>
        <p:nvSpPr>
          <p:cNvPr id="20" name="Text 11"/>
          <p:cNvSpPr txBox="1"/>
          <p:nvPr/>
        </p:nvSpPr>
        <p:spPr>
          <a:xfrm>
            <a:off x="5408676" y="182880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teachers</a:t>
            </a:r>
            <a:endParaRPr lang="en-US" sz="2200" dirty="0"/>
          </a:p>
        </p:txBody>
      </p:sp>
      <p:pic>
        <p:nvPicPr>
          <p:cNvPr id="2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31436" y="2935224"/>
            <a:ext cx="237744" cy="237744"/>
          </a:xfrm>
          <a:prstGeom prst="rect">
            <a:avLst/>
          </a:prstGeom>
        </p:spPr>
      </p:pic>
      <p:sp>
        <p:nvSpPr>
          <p:cNvPr id="22" name="Text 12"/>
          <p:cNvSpPr txBox="1"/>
          <p:nvPr/>
        </p:nvSpPr>
        <p:spPr>
          <a:xfrm>
            <a:off x="5042916" y="2743200"/>
            <a:ext cx="2606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teaching resources</a:t>
            </a:r>
            <a:endParaRPr lang="en-US" sz="1600" dirty="0"/>
          </a:p>
        </p:txBody>
      </p:sp>
      <p:pic>
        <p:nvPicPr>
          <p:cNvPr id="23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31436" y="3557016"/>
            <a:ext cx="237744" cy="237744"/>
          </a:xfrm>
          <a:prstGeom prst="rect">
            <a:avLst/>
          </a:prstGeom>
        </p:spPr>
      </p:pic>
      <p:sp>
        <p:nvSpPr>
          <p:cNvPr id="24" name="Text 13"/>
          <p:cNvSpPr txBox="1"/>
          <p:nvPr/>
        </p:nvSpPr>
        <p:spPr>
          <a:xfrm>
            <a:off x="5042916" y="3364992"/>
            <a:ext cx="2606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Student-performance information</a:t>
            </a:r>
            <a:endParaRPr lang="en-US" sz="1600" dirty="0"/>
          </a:p>
        </p:txBody>
      </p:sp>
      <p:pic>
        <p:nvPicPr>
          <p:cNvPr id="25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631436" y="4178808"/>
            <a:ext cx="237744" cy="237744"/>
          </a:xfrm>
          <a:prstGeom prst="rect">
            <a:avLst/>
          </a:prstGeom>
        </p:spPr>
      </p:pic>
      <p:sp>
        <p:nvSpPr>
          <p:cNvPr id="26" name="Text 14"/>
          <p:cNvSpPr txBox="1"/>
          <p:nvPr/>
        </p:nvSpPr>
        <p:spPr>
          <a:xfrm>
            <a:off x="5042916" y="3986784"/>
            <a:ext cx="2606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Easier resource sharing</a:t>
            </a:r>
            <a:endParaRPr lang="en-US" sz="1600" dirty="0"/>
          </a:p>
        </p:txBody>
      </p:sp>
      <p:pic>
        <p:nvPicPr>
          <p:cNvPr id="27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631436" y="4800600"/>
            <a:ext cx="237744" cy="237744"/>
          </a:xfrm>
          <a:prstGeom prst="rect">
            <a:avLst/>
          </a:prstGeom>
        </p:spPr>
      </p:pic>
      <p:sp>
        <p:nvSpPr>
          <p:cNvPr id="28" name="Text 15"/>
          <p:cNvSpPr txBox="1"/>
          <p:nvPr/>
        </p:nvSpPr>
        <p:spPr>
          <a:xfrm>
            <a:off x="5042916" y="4608576"/>
            <a:ext cx="2606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development</a:t>
            </a:r>
            <a:endParaRPr lang="en-US" sz="1600" dirty="0"/>
          </a:p>
        </p:txBody>
      </p:sp>
      <p:sp>
        <p:nvSpPr>
          <p:cNvPr id="29" name="Shape 16"/>
          <p:cNvSpPr/>
          <p:nvPr/>
        </p:nvSpPr>
        <p:spPr>
          <a:xfrm>
            <a:off x="8074152" y="1600200"/>
            <a:ext cx="3474720" cy="4434840"/>
          </a:xfrm>
          <a:prstGeom prst="roundRect">
            <a:avLst>
              <a:gd name="adj" fmla="val 3158"/>
            </a:avLst>
          </a:prstGeom>
          <a:solidFill>
            <a:srgbClr val="ECF5F3"/>
          </a:solidFill>
          <a:ln/>
        </p:spPr>
      </p:sp>
      <p:sp>
        <p:nvSpPr>
          <p:cNvPr id="30" name="Shape 17"/>
          <p:cNvSpPr/>
          <p:nvPr/>
        </p:nvSpPr>
        <p:spPr>
          <a:xfrm>
            <a:off x="8348472" y="1828800"/>
            <a:ext cx="640080" cy="640080"/>
          </a:xfrm>
          <a:prstGeom prst="ellipse">
            <a:avLst/>
          </a:prstGeom>
          <a:solidFill>
            <a:srgbClr val="0F766E"/>
          </a:solidFill>
          <a:ln/>
        </p:spPr>
      </p:sp>
      <p:pic>
        <p:nvPicPr>
          <p:cNvPr id="31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521294" y="2001622"/>
            <a:ext cx="294437" cy="294437"/>
          </a:xfrm>
          <a:prstGeom prst="rect">
            <a:avLst/>
          </a:prstGeom>
        </p:spPr>
      </p:pic>
      <p:sp>
        <p:nvSpPr>
          <p:cNvPr id="32" name="Text 18"/>
          <p:cNvSpPr txBox="1"/>
          <p:nvPr/>
        </p:nvSpPr>
        <p:spPr>
          <a:xfrm>
            <a:off x="9125712" y="182880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government</a:t>
            </a:r>
            <a:endParaRPr lang="en-US" sz="2200" dirty="0"/>
          </a:p>
        </p:txBody>
      </p:sp>
      <p:pic>
        <p:nvPicPr>
          <p:cNvPr id="33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348472" y="2935224"/>
            <a:ext cx="237744" cy="237744"/>
          </a:xfrm>
          <a:prstGeom prst="rect">
            <a:avLst/>
          </a:prstGeom>
        </p:spPr>
      </p:pic>
      <p:sp>
        <p:nvSpPr>
          <p:cNvPr id="34" name="Text 19"/>
          <p:cNvSpPr txBox="1"/>
          <p:nvPr/>
        </p:nvSpPr>
        <p:spPr>
          <a:xfrm>
            <a:off x="8759952" y="2743200"/>
            <a:ext cx="2606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Wider educational reach</a:t>
            </a:r>
            <a:endParaRPr lang="en-US" sz="1600" dirty="0"/>
          </a:p>
        </p:txBody>
      </p:sp>
      <p:pic>
        <p:nvPicPr>
          <p:cNvPr id="35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348472" y="3557016"/>
            <a:ext cx="237744" cy="237744"/>
          </a:xfrm>
          <a:prstGeom prst="rect">
            <a:avLst/>
          </a:prstGeom>
        </p:spPr>
      </p:pic>
      <p:sp>
        <p:nvSpPr>
          <p:cNvPr id="36" name="Text 20"/>
          <p:cNvSpPr txBox="1"/>
          <p:nvPr/>
        </p:nvSpPr>
        <p:spPr>
          <a:xfrm>
            <a:off x="8759952" y="3364992"/>
            <a:ext cx="2606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 digital resources</a:t>
            </a:r>
            <a:endParaRPr lang="en-US" sz="1600" dirty="0"/>
          </a:p>
        </p:txBody>
      </p:sp>
      <p:pic>
        <p:nvPicPr>
          <p:cNvPr id="37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348472" y="4178808"/>
            <a:ext cx="237744" cy="237744"/>
          </a:xfrm>
          <a:prstGeom prst="rect">
            <a:avLst/>
          </a:prstGeom>
        </p:spPr>
      </p:pic>
      <p:sp>
        <p:nvSpPr>
          <p:cNvPr id="38" name="Text 21"/>
          <p:cNvSpPr txBox="1"/>
          <p:nvPr/>
        </p:nvSpPr>
        <p:spPr>
          <a:xfrm>
            <a:off x="8759952" y="3986784"/>
            <a:ext cx="2606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data for planning</a:t>
            </a:r>
            <a:endParaRPr lang="en-US" sz="1600" dirty="0"/>
          </a:p>
        </p:txBody>
      </p:sp>
      <p:pic>
        <p:nvPicPr>
          <p:cNvPr id="39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348472" y="4800600"/>
            <a:ext cx="237744" cy="237744"/>
          </a:xfrm>
          <a:prstGeom prst="rect">
            <a:avLst/>
          </a:prstGeom>
        </p:spPr>
      </p:pic>
      <p:sp>
        <p:nvSpPr>
          <p:cNvPr id="40" name="Text 22"/>
          <p:cNvSpPr txBox="1"/>
          <p:nvPr/>
        </p:nvSpPr>
        <p:spPr>
          <a:xfrm>
            <a:off x="8759952" y="4608576"/>
            <a:ext cx="2606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for multilingual education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CA3A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Disadvantages and challenges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1600200"/>
            <a:ext cx="3474720" cy="1280160"/>
          </a:xfrm>
          <a:prstGeom prst="roundRect">
            <a:avLst>
              <a:gd name="adj" fmla="val 8571"/>
            </a:avLst>
          </a:prstGeom>
          <a:solidFill>
            <a:srgbClr val="FBF1E6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1938528"/>
            <a:ext cx="603504" cy="603504"/>
          </a:xfrm>
          <a:prstGeom prst="ellipse">
            <a:avLst/>
          </a:prstGeom>
          <a:solidFill>
            <a:srgbClr val="B45309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7346" y="2101474"/>
            <a:ext cx="277612" cy="27761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737360" y="1600200"/>
            <a:ext cx="2240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divide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640080" y="3108960"/>
            <a:ext cx="3474720" cy="1280160"/>
          </a:xfrm>
          <a:prstGeom prst="roundRect">
            <a:avLst>
              <a:gd name="adj" fmla="val 8571"/>
            </a:avLst>
          </a:prstGeom>
          <a:solidFill>
            <a:srgbClr val="FBF1E6"/>
          </a:solidFill>
          <a:ln/>
        </p:spPr>
      </p:sp>
      <p:sp>
        <p:nvSpPr>
          <p:cNvPr id="8" name="Shape 5"/>
          <p:cNvSpPr/>
          <p:nvPr/>
        </p:nvSpPr>
        <p:spPr>
          <a:xfrm>
            <a:off x="914400" y="3447288"/>
            <a:ext cx="603504" cy="603504"/>
          </a:xfrm>
          <a:prstGeom prst="ellipse">
            <a:avLst/>
          </a:prstGeom>
          <a:solidFill>
            <a:srgbClr val="B45309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346" y="3610234"/>
            <a:ext cx="277612" cy="277612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737360" y="3108960"/>
            <a:ext cx="2240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internet connectivity</a:t>
            </a:r>
            <a:endParaRPr lang="en-US" sz="1700" dirty="0"/>
          </a:p>
        </p:txBody>
      </p:sp>
      <p:sp>
        <p:nvSpPr>
          <p:cNvPr id="11" name="Shape 7"/>
          <p:cNvSpPr/>
          <p:nvPr/>
        </p:nvSpPr>
        <p:spPr>
          <a:xfrm>
            <a:off x="640080" y="4617720"/>
            <a:ext cx="3474720" cy="1280160"/>
          </a:xfrm>
          <a:prstGeom prst="roundRect">
            <a:avLst>
              <a:gd name="adj" fmla="val 8571"/>
            </a:avLst>
          </a:prstGeom>
          <a:solidFill>
            <a:srgbClr val="FBF1E6"/>
          </a:solidFill>
          <a:ln/>
        </p:spPr>
      </p:sp>
      <p:sp>
        <p:nvSpPr>
          <p:cNvPr id="12" name="Shape 8"/>
          <p:cNvSpPr/>
          <p:nvPr/>
        </p:nvSpPr>
        <p:spPr>
          <a:xfrm>
            <a:off x="914400" y="4956048"/>
            <a:ext cx="603504" cy="603504"/>
          </a:xfrm>
          <a:prstGeom prst="ellipse">
            <a:avLst/>
          </a:prstGeom>
          <a:solidFill>
            <a:srgbClr val="B45309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7346" y="5118994"/>
            <a:ext cx="277612" cy="277612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737360" y="4617720"/>
            <a:ext cx="2240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Lack of devices</a:t>
            </a:r>
            <a:endParaRPr lang="en-US" sz="1700" dirty="0"/>
          </a:p>
        </p:txBody>
      </p:sp>
      <p:sp>
        <p:nvSpPr>
          <p:cNvPr id="15" name="Shape 10"/>
          <p:cNvSpPr/>
          <p:nvPr/>
        </p:nvSpPr>
        <p:spPr>
          <a:xfrm>
            <a:off x="4357116" y="1600200"/>
            <a:ext cx="3474720" cy="1280160"/>
          </a:xfrm>
          <a:prstGeom prst="roundRect">
            <a:avLst>
              <a:gd name="adj" fmla="val 8571"/>
            </a:avLst>
          </a:prstGeom>
          <a:solidFill>
            <a:srgbClr val="FBF1E6"/>
          </a:solidFill>
          <a:ln/>
        </p:spPr>
      </p:sp>
      <p:sp>
        <p:nvSpPr>
          <p:cNvPr id="16" name="Shape 11"/>
          <p:cNvSpPr/>
          <p:nvPr/>
        </p:nvSpPr>
        <p:spPr>
          <a:xfrm>
            <a:off x="4631436" y="1938528"/>
            <a:ext cx="603504" cy="603504"/>
          </a:xfrm>
          <a:prstGeom prst="ellipse">
            <a:avLst/>
          </a:prstGeom>
          <a:solidFill>
            <a:srgbClr val="B45309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94382" y="2101474"/>
            <a:ext cx="277612" cy="277612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5454396" y="1600200"/>
            <a:ext cx="2240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literacy gaps</a:t>
            </a:r>
            <a:endParaRPr lang="en-US" sz="1700" dirty="0"/>
          </a:p>
        </p:txBody>
      </p:sp>
      <p:sp>
        <p:nvSpPr>
          <p:cNvPr id="19" name="Shape 13"/>
          <p:cNvSpPr/>
          <p:nvPr/>
        </p:nvSpPr>
        <p:spPr>
          <a:xfrm>
            <a:off x="4357116" y="3108960"/>
            <a:ext cx="3474720" cy="1280160"/>
          </a:xfrm>
          <a:prstGeom prst="roundRect">
            <a:avLst>
              <a:gd name="adj" fmla="val 8571"/>
            </a:avLst>
          </a:prstGeom>
          <a:solidFill>
            <a:srgbClr val="FBF1E6"/>
          </a:solidFill>
          <a:ln/>
        </p:spPr>
      </p:sp>
      <p:sp>
        <p:nvSpPr>
          <p:cNvPr id="20" name="Shape 14"/>
          <p:cNvSpPr/>
          <p:nvPr/>
        </p:nvSpPr>
        <p:spPr>
          <a:xfrm>
            <a:off x="4631436" y="3447288"/>
            <a:ext cx="603504" cy="603504"/>
          </a:xfrm>
          <a:prstGeom prst="ellipse">
            <a:avLst/>
          </a:prstGeom>
          <a:solidFill>
            <a:srgbClr val="B45309"/>
          </a:solidFill>
          <a:ln/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94382" y="3610234"/>
            <a:ext cx="277612" cy="277612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5454396" y="3108960"/>
            <a:ext cx="2240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training requirements</a:t>
            </a:r>
            <a:endParaRPr lang="en-US" sz="1700" dirty="0"/>
          </a:p>
        </p:txBody>
      </p:sp>
      <p:sp>
        <p:nvSpPr>
          <p:cNvPr id="23" name="Shape 16"/>
          <p:cNvSpPr/>
          <p:nvPr/>
        </p:nvSpPr>
        <p:spPr>
          <a:xfrm>
            <a:off x="4357116" y="4617720"/>
            <a:ext cx="3474720" cy="1280160"/>
          </a:xfrm>
          <a:prstGeom prst="roundRect">
            <a:avLst>
              <a:gd name="adj" fmla="val 8571"/>
            </a:avLst>
          </a:prstGeom>
          <a:solidFill>
            <a:srgbClr val="FBF1E6"/>
          </a:solidFill>
          <a:ln/>
        </p:spPr>
      </p:sp>
      <p:sp>
        <p:nvSpPr>
          <p:cNvPr id="24" name="Shape 17"/>
          <p:cNvSpPr/>
          <p:nvPr/>
        </p:nvSpPr>
        <p:spPr>
          <a:xfrm>
            <a:off x="4631436" y="4956048"/>
            <a:ext cx="603504" cy="603504"/>
          </a:xfrm>
          <a:prstGeom prst="ellipse">
            <a:avLst/>
          </a:prstGeom>
          <a:solidFill>
            <a:srgbClr val="B45309"/>
          </a:solidFill>
          <a:ln/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94382" y="5118994"/>
            <a:ext cx="277612" cy="277612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5454396" y="4617720"/>
            <a:ext cx="2240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distraction</a:t>
            </a:r>
            <a:endParaRPr lang="en-US" sz="1700" dirty="0"/>
          </a:p>
        </p:txBody>
      </p:sp>
      <p:sp>
        <p:nvSpPr>
          <p:cNvPr id="27" name="Shape 19"/>
          <p:cNvSpPr/>
          <p:nvPr/>
        </p:nvSpPr>
        <p:spPr>
          <a:xfrm>
            <a:off x="8074152" y="1600200"/>
            <a:ext cx="3474720" cy="1280160"/>
          </a:xfrm>
          <a:prstGeom prst="roundRect">
            <a:avLst>
              <a:gd name="adj" fmla="val 8571"/>
            </a:avLst>
          </a:prstGeom>
          <a:solidFill>
            <a:srgbClr val="FBF1E6"/>
          </a:solidFill>
          <a:ln/>
        </p:spPr>
      </p:sp>
      <p:sp>
        <p:nvSpPr>
          <p:cNvPr id="28" name="Shape 20"/>
          <p:cNvSpPr/>
          <p:nvPr/>
        </p:nvSpPr>
        <p:spPr>
          <a:xfrm>
            <a:off x="8348472" y="1938528"/>
            <a:ext cx="603504" cy="603504"/>
          </a:xfrm>
          <a:prstGeom prst="ellipse">
            <a:avLst/>
          </a:prstGeom>
          <a:solidFill>
            <a:srgbClr val="B45309"/>
          </a:solidFill>
          <a:ln/>
        </p:spPr>
      </p:sp>
      <p:pic>
        <p:nvPicPr>
          <p:cNvPr id="2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11418" y="2101474"/>
            <a:ext cx="277612" cy="277612"/>
          </a:xfrm>
          <a:prstGeom prst="rect">
            <a:avLst/>
          </a:prstGeom>
        </p:spPr>
      </p:pic>
      <p:sp>
        <p:nvSpPr>
          <p:cNvPr id="30" name="Text 21"/>
          <p:cNvSpPr txBox="1"/>
          <p:nvPr/>
        </p:nvSpPr>
        <p:spPr>
          <a:xfrm>
            <a:off x="9171432" y="1600200"/>
            <a:ext cx="2240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and data-security concerns</a:t>
            </a:r>
            <a:endParaRPr lang="en-US" sz="1700" dirty="0"/>
          </a:p>
        </p:txBody>
      </p:sp>
      <p:sp>
        <p:nvSpPr>
          <p:cNvPr id="31" name="Shape 22"/>
          <p:cNvSpPr/>
          <p:nvPr/>
        </p:nvSpPr>
        <p:spPr>
          <a:xfrm>
            <a:off x="8074152" y="3108960"/>
            <a:ext cx="3474720" cy="1280160"/>
          </a:xfrm>
          <a:prstGeom prst="roundRect">
            <a:avLst>
              <a:gd name="adj" fmla="val 8571"/>
            </a:avLst>
          </a:prstGeom>
          <a:solidFill>
            <a:srgbClr val="FBF1E6"/>
          </a:solidFill>
          <a:ln/>
        </p:spPr>
      </p:sp>
      <p:sp>
        <p:nvSpPr>
          <p:cNvPr id="32" name="Shape 23"/>
          <p:cNvSpPr/>
          <p:nvPr/>
        </p:nvSpPr>
        <p:spPr>
          <a:xfrm>
            <a:off x="8348472" y="3447288"/>
            <a:ext cx="603504" cy="603504"/>
          </a:xfrm>
          <a:prstGeom prst="ellipse">
            <a:avLst/>
          </a:prstGeom>
          <a:solidFill>
            <a:srgbClr val="B45309"/>
          </a:solidFill>
          <a:ln/>
        </p:spPr>
      </p:sp>
      <p:pic>
        <p:nvPicPr>
          <p:cNvPr id="3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11418" y="3610234"/>
            <a:ext cx="277612" cy="277612"/>
          </a:xfrm>
          <a:prstGeom prst="rect">
            <a:avLst/>
          </a:prstGeom>
        </p:spPr>
      </p:pic>
      <p:sp>
        <p:nvSpPr>
          <p:cNvPr id="34" name="Text 24"/>
          <p:cNvSpPr txBox="1"/>
          <p:nvPr/>
        </p:nvSpPr>
        <p:spPr>
          <a:xfrm>
            <a:off x="9171432" y="3108960"/>
            <a:ext cx="2240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control of online content</a:t>
            </a:r>
            <a:endParaRPr lang="en-US" sz="1700" dirty="0"/>
          </a:p>
        </p:txBody>
      </p:sp>
      <p:sp>
        <p:nvSpPr>
          <p:cNvPr id="35" name="Shape 25"/>
          <p:cNvSpPr/>
          <p:nvPr/>
        </p:nvSpPr>
        <p:spPr>
          <a:xfrm>
            <a:off x="8074152" y="4617720"/>
            <a:ext cx="3474720" cy="1280160"/>
          </a:xfrm>
          <a:prstGeom prst="roundRect">
            <a:avLst>
              <a:gd name="adj" fmla="val 8571"/>
            </a:avLst>
          </a:prstGeom>
          <a:solidFill>
            <a:srgbClr val="FBF1E6"/>
          </a:solidFill>
          <a:ln/>
        </p:spPr>
      </p:sp>
      <p:sp>
        <p:nvSpPr>
          <p:cNvPr id="36" name="Shape 26"/>
          <p:cNvSpPr/>
          <p:nvPr/>
        </p:nvSpPr>
        <p:spPr>
          <a:xfrm>
            <a:off x="8348472" y="4956048"/>
            <a:ext cx="603504" cy="603504"/>
          </a:xfrm>
          <a:prstGeom prst="ellipse">
            <a:avLst/>
          </a:prstGeom>
          <a:solidFill>
            <a:srgbClr val="B45309"/>
          </a:solidFill>
          <a:ln/>
        </p:spPr>
      </p:sp>
      <p:pic>
        <p:nvPicPr>
          <p:cNvPr id="37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511418" y="5118994"/>
            <a:ext cx="277612" cy="277612"/>
          </a:xfrm>
          <a:prstGeom prst="rect">
            <a:avLst/>
          </a:prstGeom>
        </p:spPr>
      </p:pic>
      <p:sp>
        <p:nvSpPr>
          <p:cNvPr id="38" name="Text 27"/>
          <p:cNvSpPr txBox="1"/>
          <p:nvPr/>
        </p:nvSpPr>
        <p:spPr>
          <a:xfrm>
            <a:off x="9171432" y="4617720"/>
            <a:ext cx="2240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Accessibility for students with disabilities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CA3A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digital divide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8016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486400" cy="1508760"/>
          </a:xfrm>
          <a:prstGeom prst="roundRect">
            <a:avLst>
              <a:gd name="adj" fmla="val 7273"/>
            </a:avLst>
          </a:prstGeom>
          <a:solidFill>
            <a:srgbClr val="ECF5F3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184708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student with</a:t>
            </a:r>
            <a:endParaRPr lang="en-US" sz="14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2286000"/>
            <a:ext cx="365760" cy="36576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325880" y="2194560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Smartphone</a:t>
            </a:r>
            <a:endParaRPr lang="en-US" sz="14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1760" y="2286000"/>
            <a:ext cx="365760" cy="36576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3108960" y="2194560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internet</a:t>
            </a:r>
            <a:endParaRPr lang="en-US" sz="14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4840" y="2286000"/>
            <a:ext cx="365760" cy="36576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4892040" y="2194560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Reliable electricity</a:t>
            </a:r>
            <a:endParaRPr lang="en-US" sz="1400" dirty="0"/>
          </a:p>
        </p:txBody>
      </p:sp>
      <p:sp>
        <p:nvSpPr>
          <p:cNvPr id="12" name="Text 7"/>
          <p:cNvSpPr txBox="1"/>
          <p:nvPr/>
        </p:nvSpPr>
        <p:spPr>
          <a:xfrm>
            <a:off x="640080" y="3383280"/>
            <a:ext cx="5486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have a very different learning experience from a student with</a:t>
            </a:r>
            <a:endParaRPr lang="en-US" sz="1500" dirty="0"/>
          </a:p>
        </p:txBody>
      </p:sp>
      <p:sp>
        <p:nvSpPr>
          <p:cNvPr id="13" name="Shape 8"/>
          <p:cNvSpPr/>
          <p:nvPr/>
        </p:nvSpPr>
        <p:spPr>
          <a:xfrm>
            <a:off x="640080" y="4069080"/>
            <a:ext cx="5486400" cy="1508760"/>
          </a:xfrm>
          <a:prstGeom prst="roundRect">
            <a:avLst>
              <a:gd name="adj" fmla="val 7273"/>
            </a:avLst>
          </a:prstGeom>
          <a:solidFill>
            <a:srgbClr val="FBF1E6"/>
          </a:solidFill>
          <a:ln/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4389120"/>
            <a:ext cx="365760" cy="365760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1325880" y="4297680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personal device</a:t>
            </a:r>
            <a:endParaRPr lang="en-US" sz="140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51760" y="4389120"/>
            <a:ext cx="365760" cy="365760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3108960" y="4297680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connectivity</a:t>
            </a:r>
            <a:endParaRPr lang="en-US" sz="1400" dirty="0"/>
          </a:p>
        </p:txBody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34840" y="4389120"/>
            <a:ext cx="365760" cy="365760"/>
          </a:xfrm>
          <a:prstGeom prst="rect">
            <a:avLst/>
          </a:prstGeom>
        </p:spPr>
      </p:pic>
      <p:sp>
        <p:nvSpPr>
          <p:cNvPr id="19" name="Text 11"/>
          <p:cNvSpPr txBox="1"/>
          <p:nvPr/>
        </p:nvSpPr>
        <p:spPr>
          <a:xfrm>
            <a:off x="4892040" y="4297680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Unreliable electricity</a:t>
            </a:r>
            <a:endParaRPr lang="en-US" sz="1400" dirty="0"/>
          </a:p>
        </p:txBody>
      </p:sp>
      <p:sp>
        <p:nvSpPr>
          <p:cNvPr id="20" name="Text 12"/>
          <p:cNvSpPr txBox="1"/>
          <p:nvPr/>
        </p:nvSpPr>
        <p:spPr>
          <a:xfrm>
            <a:off x="6583680" y="1280160"/>
            <a:ext cx="4983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Solution: smart education should include</a:t>
            </a:r>
            <a:endParaRPr lang="en-US" sz="2200" dirty="0"/>
          </a:p>
        </p:txBody>
      </p:sp>
      <p:pic>
        <p:nvPicPr>
          <p:cNvPr id="2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83680" y="2002536"/>
            <a:ext cx="237744" cy="237744"/>
          </a:xfrm>
          <a:prstGeom prst="rect">
            <a:avLst/>
          </a:prstGeom>
        </p:spPr>
      </p:pic>
      <p:sp>
        <p:nvSpPr>
          <p:cNvPr id="22" name="Text 13"/>
          <p:cNvSpPr txBox="1"/>
          <p:nvPr/>
        </p:nvSpPr>
        <p:spPr>
          <a:xfrm>
            <a:off x="6995160" y="1828800"/>
            <a:ext cx="24231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content</a:t>
            </a:r>
            <a:endParaRPr lang="en-US" sz="1600" dirty="0"/>
          </a:p>
        </p:txBody>
      </p:sp>
      <p:pic>
        <p:nvPicPr>
          <p:cNvPr id="2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83680" y="2587752"/>
            <a:ext cx="237744" cy="237744"/>
          </a:xfrm>
          <a:prstGeom prst="rect">
            <a:avLst/>
          </a:prstGeom>
        </p:spPr>
      </p:pic>
      <p:sp>
        <p:nvSpPr>
          <p:cNvPr id="24" name="Text 14"/>
          <p:cNvSpPr txBox="1"/>
          <p:nvPr/>
        </p:nvSpPr>
        <p:spPr>
          <a:xfrm>
            <a:off x="6995160" y="2414016"/>
            <a:ext cx="24231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Downloadable lessons</a:t>
            </a:r>
            <a:endParaRPr lang="en-US" sz="1600" dirty="0"/>
          </a:p>
        </p:txBody>
      </p:sp>
      <p:pic>
        <p:nvPicPr>
          <p:cNvPr id="25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83680" y="3172968"/>
            <a:ext cx="237744" cy="237744"/>
          </a:xfrm>
          <a:prstGeom prst="rect">
            <a:avLst/>
          </a:prstGeom>
        </p:spPr>
      </p:pic>
      <p:sp>
        <p:nvSpPr>
          <p:cNvPr id="26" name="Text 15"/>
          <p:cNvSpPr txBox="1"/>
          <p:nvPr/>
        </p:nvSpPr>
        <p:spPr>
          <a:xfrm>
            <a:off x="6995160" y="2999232"/>
            <a:ext cx="24231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Low-data applications</a:t>
            </a:r>
            <a:endParaRPr lang="en-US" sz="1600" dirty="0"/>
          </a:p>
        </p:txBody>
      </p:sp>
      <p:pic>
        <p:nvPicPr>
          <p:cNvPr id="27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83680" y="3758184"/>
            <a:ext cx="237744" cy="237744"/>
          </a:xfrm>
          <a:prstGeom prst="rect">
            <a:avLst/>
          </a:prstGeom>
        </p:spPr>
      </p:pic>
      <p:sp>
        <p:nvSpPr>
          <p:cNvPr id="28" name="Text 16"/>
          <p:cNvSpPr txBox="1"/>
          <p:nvPr/>
        </p:nvSpPr>
        <p:spPr>
          <a:xfrm>
            <a:off x="6995160" y="3584448"/>
            <a:ext cx="24231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school devices</a:t>
            </a:r>
            <a:endParaRPr lang="en-US" sz="1600" dirty="0"/>
          </a:p>
        </p:txBody>
      </p:sp>
      <p:pic>
        <p:nvPicPr>
          <p:cNvPr id="29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583680" y="4343400"/>
            <a:ext cx="237744" cy="237744"/>
          </a:xfrm>
          <a:prstGeom prst="rect">
            <a:avLst/>
          </a:prstGeom>
        </p:spPr>
      </p:pic>
      <p:sp>
        <p:nvSpPr>
          <p:cNvPr id="30" name="Text 17"/>
          <p:cNvSpPr txBox="1"/>
          <p:nvPr/>
        </p:nvSpPr>
        <p:spPr>
          <a:xfrm>
            <a:off x="6995160" y="4169664"/>
            <a:ext cx="24231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classrooms</a:t>
            </a:r>
            <a:endParaRPr lang="en-US" sz="1600" dirty="0"/>
          </a:p>
        </p:txBody>
      </p:sp>
      <p:pic>
        <p:nvPicPr>
          <p:cNvPr id="31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583680" y="4928616"/>
            <a:ext cx="237744" cy="237744"/>
          </a:xfrm>
          <a:prstGeom prst="rect">
            <a:avLst/>
          </a:prstGeom>
        </p:spPr>
      </p:pic>
      <p:sp>
        <p:nvSpPr>
          <p:cNvPr id="32" name="Text 18"/>
          <p:cNvSpPr txBox="1"/>
          <p:nvPr/>
        </p:nvSpPr>
        <p:spPr>
          <a:xfrm>
            <a:off x="6995160" y="4754880"/>
            <a:ext cx="24231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TV/radio-based alternatives</a:t>
            </a:r>
            <a:endParaRPr lang="en-US" sz="1600" dirty="0"/>
          </a:p>
        </p:txBody>
      </p:sp>
      <p:pic>
        <p:nvPicPr>
          <p:cNvPr id="33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583680" y="5513832"/>
            <a:ext cx="237744" cy="237744"/>
          </a:xfrm>
          <a:prstGeom prst="rect">
            <a:avLst/>
          </a:prstGeom>
        </p:spPr>
      </p:pic>
      <p:sp>
        <p:nvSpPr>
          <p:cNvPr id="34" name="Text 19"/>
          <p:cNvSpPr txBox="1"/>
          <p:nvPr/>
        </p:nvSpPr>
        <p:spPr>
          <a:xfrm>
            <a:off x="6995160" y="5340096"/>
            <a:ext cx="24231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Local-language content</a:t>
            </a:r>
            <a:endParaRPr lang="en-US" sz="1600" dirty="0"/>
          </a:p>
        </p:txBody>
      </p:sp>
      <p:pic>
        <p:nvPicPr>
          <p:cNvPr id="35" name="Image 13" descr="Student with a smartphone and good connectivity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555480" y="1828800"/>
            <a:ext cx="2011680" cy="1920240"/>
          </a:xfrm>
          <a:prstGeom prst="rect">
            <a:avLst/>
          </a:prstGeom>
        </p:spPr>
      </p:pic>
      <p:pic>
        <p:nvPicPr>
          <p:cNvPr id="36" name="Image 14" descr="Student without connectivity or power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555480" y="3931920"/>
            <a:ext cx="2011680" cy="192024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CA3A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1463040"/>
            <a:ext cx="3474720" cy="1463040"/>
          </a:xfrm>
          <a:prstGeom prst="roundRect">
            <a:avLst>
              <a:gd name="adj" fmla="val 7500"/>
            </a:avLst>
          </a:prstGeom>
          <a:solidFill>
            <a:srgbClr val="ECF5F3"/>
          </a:solidFill>
          <a:ln/>
        </p:spPr>
      </p:sp>
      <p:sp>
        <p:nvSpPr>
          <p:cNvPr id="4" name="Shape 2"/>
          <p:cNvSpPr/>
          <p:nvPr/>
        </p:nvSpPr>
        <p:spPr>
          <a:xfrm>
            <a:off x="868680" y="1920240"/>
            <a:ext cx="548640" cy="548640"/>
          </a:xfrm>
          <a:prstGeom prst="ellipse">
            <a:avLst/>
          </a:prstGeom>
          <a:solidFill>
            <a:srgbClr val="0F766E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6813" y="2068373"/>
            <a:ext cx="252374" cy="25237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00200" y="1463040"/>
            <a:ext cx="2377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personalized learning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tailored to each student's needs and pace.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4357116" y="1463040"/>
            <a:ext cx="3474720" cy="1463040"/>
          </a:xfrm>
          <a:prstGeom prst="roundRect">
            <a:avLst>
              <a:gd name="adj" fmla="val 7500"/>
            </a:avLst>
          </a:prstGeom>
          <a:solidFill>
            <a:srgbClr val="ECF5F3"/>
          </a:solidFill>
          <a:ln/>
        </p:spPr>
      </p:sp>
      <p:sp>
        <p:nvSpPr>
          <p:cNvPr id="8" name="Shape 5"/>
          <p:cNvSpPr/>
          <p:nvPr/>
        </p:nvSpPr>
        <p:spPr>
          <a:xfrm>
            <a:off x="4585716" y="1920240"/>
            <a:ext cx="548640" cy="548640"/>
          </a:xfrm>
          <a:prstGeom prst="ellipse">
            <a:avLst/>
          </a:prstGeom>
          <a:solidFill>
            <a:srgbClr val="0F766E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3849" y="2068373"/>
            <a:ext cx="252374" cy="252374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5317236" y="1463040"/>
            <a:ext cx="2377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Multilingual AI tutors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in multiple Indian and global languages.</a:t>
            </a:r>
            <a:endParaRPr lang="en-US" sz="1500" dirty="0"/>
          </a:p>
        </p:txBody>
      </p:sp>
      <p:sp>
        <p:nvSpPr>
          <p:cNvPr id="11" name="Shape 7"/>
          <p:cNvSpPr/>
          <p:nvPr/>
        </p:nvSpPr>
        <p:spPr>
          <a:xfrm>
            <a:off x="8074152" y="1463040"/>
            <a:ext cx="3474720" cy="1463040"/>
          </a:xfrm>
          <a:prstGeom prst="roundRect">
            <a:avLst>
              <a:gd name="adj" fmla="val 7500"/>
            </a:avLst>
          </a:prstGeom>
          <a:solidFill>
            <a:srgbClr val="ECF5F3"/>
          </a:solidFill>
          <a:ln/>
        </p:spPr>
      </p:sp>
      <p:sp>
        <p:nvSpPr>
          <p:cNvPr id="12" name="Shape 8"/>
          <p:cNvSpPr/>
          <p:nvPr/>
        </p:nvSpPr>
        <p:spPr>
          <a:xfrm>
            <a:off x="8302752" y="1920240"/>
            <a:ext cx="548640" cy="548640"/>
          </a:xfrm>
          <a:prstGeom prst="ellipse">
            <a:avLst/>
          </a:prstGeom>
          <a:solidFill>
            <a:srgbClr val="0F766E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0885" y="2068373"/>
            <a:ext cx="252374" cy="252374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9034272" y="1463040"/>
            <a:ext cx="2377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VR/AR laboratories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learning through virtual and augmented reality.</a:t>
            </a:r>
            <a:endParaRPr lang="en-US" sz="1500" dirty="0"/>
          </a:p>
        </p:txBody>
      </p:sp>
      <p:sp>
        <p:nvSpPr>
          <p:cNvPr id="15" name="Shape 10"/>
          <p:cNvSpPr/>
          <p:nvPr/>
        </p:nvSpPr>
        <p:spPr>
          <a:xfrm>
            <a:off x="640080" y="3108960"/>
            <a:ext cx="3474720" cy="1463040"/>
          </a:xfrm>
          <a:prstGeom prst="roundRect">
            <a:avLst>
              <a:gd name="adj" fmla="val 7500"/>
            </a:avLst>
          </a:prstGeom>
          <a:solidFill>
            <a:srgbClr val="ECF5F3"/>
          </a:solidFill>
          <a:ln/>
        </p:spPr>
      </p:sp>
      <p:sp>
        <p:nvSpPr>
          <p:cNvPr id="16" name="Shape 11"/>
          <p:cNvSpPr/>
          <p:nvPr/>
        </p:nvSpPr>
        <p:spPr>
          <a:xfrm>
            <a:off x="868680" y="3566160"/>
            <a:ext cx="548640" cy="548640"/>
          </a:xfrm>
          <a:prstGeom prst="ellipse">
            <a:avLst/>
          </a:prstGeom>
          <a:solidFill>
            <a:srgbClr val="0F766E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6813" y="3714293"/>
            <a:ext cx="252374" cy="252374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600200" y="3108960"/>
            <a:ext cx="2377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learning analytics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progress and predict future needs.</a:t>
            </a:r>
            <a:endParaRPr lang="en-US" sz="1500" dirty="0"/>
          </a:p>
        </p:txBody>
      </p:sp>
      <p:sp>
        <p:nvSpPr>
          <p:cNvPr id="19" name="Shape 13"/>
          <p:cNvSpPr/>
          <p:nvPr/>
        </p:nvSpPr>
        <p:spPr>
          <a:xfrm>
            <a:off x="4357116" y="3108960"/>
            <a:ext cx="3474720" cy="1463040"/>
          </a:xfrm>
          <a:prstGeom prst="roundRect">
            <a:avLst>
              <a:gd name="adj" fmla="val 7500"/>
            </a:avLst>
          </a:prstGeom>
          <a:solidFill>
            <a:srgbClr val="ECF5F3"/>
          </a:solidFill>
          <a:ln/>
        </p:spPr>
      </p:sp>
      <p:sp>
        <p:nvSpPr>
          <p:cNvPr id="20" name="Shape 14"/>
          <p:cNvSpPr/>
          <p:nvPr/>
        </p:nvSpPr>
        <p:spPr>
          <a:xfrm>
            <a:off x="4585716" y="3566160"/>
            <a:ext cx="548640" cy="548640"/>
          </a:xfrm>
          <a:prstGeom prst="ellipse">
            <a:avLst/>
          </a:prstGeom>
          <a:solidFill>
            <a:srgbClr val="0F766E"/>
          </a:solidFill>
          <a:ln/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33849" y="3714293"/>
            <a:ext cx="252374" cy="252374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5317236" y="3108960"/>
            <a:ext cx="2377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examinations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adjust to the learner's level and performance.</a:t>
            </a:r>
            <a:endParaRPr lang="en-US" sz="1500" dirty="0"/>
          </a:p>
        </p:txBody>
      </p:sp>
      <p:sp>
        <p:nvSpPr>
          <p:cNvPr id="23" name="Shape 16"/>
          <p:cNvSpPr/>
          <p:nvPr/>
        </p:nvSpPr>
        <p:spPr>
          <a:xfrm>
            <a:off x="8074152" y="3108960"/>
            <a:ext cx="3474720" cy="1463040"/>
          </a:xfrm>
          <a:prstGeom prst="roundRect">
            <a:avLst>
              <a:gd name="adj" fmla="val 7500"/>
            </a:avLst>
          </a:prstGeom>
          <a:solidFill>
            <a:srgbClr val="ECF5F3"/>
          </a:solidFill>
          <a:ln/>
        </p:spPr>
      </p:sp>
      <p:sp>
        <p:nvSpPr>
          <p:cNvPr id="24" name="Shape 17"/>
          <p:cNvSpPr/>
          <p:nvPr/>
        </p:nvSpPr>
        <p:spPr>
          <a:xfrm>
            <a:off x="8302752" y="3566160"/>
            <a:ext cx="548640" cy="548640"/>
          </a:xfrm>
          <a:prstGeom prst="ellipse">
            <a:avLst/>
          </a:prstGeom>
          <a:solidFill>
            <a:srgbClr val="0F766E"/>
          </a:solidFill>
          <a:ln/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50885" y="3714293"/>
            <a:ext cx="252374" cy="252374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9034272" y="3108960"/>
            <a:ext cx="2377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Coding and skill-based education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real-world skills for the future job market.</a:t>
            </a:r>
            <a:endParaRPr lang="en-US" sz="1500" dirty="0"/>
          </a:p>
        </p:txBody>
      </p:sp>
      <p:sp>
        <p:nvSpPr>
          <p:cNvPr id="27" name="Shape 19"/>
          <p:cNvSpPr/>
          <p:nvPr/>
        </p:nvSpPr>
        <p:spPr>
          <a:xfrm>
            <a:off x="640080" y="4754880"/>
            <a:ext cx="3474720" cy="1463040"/>
          </a:xfrm>
          <a:prstGeom prst="roundRect">
            <a:avLst>
              <a:gd name="adj" fmla="val 7500"/>
            </a:avLst>
          </a:prstGeom>
          <a:solidFill>
            <a:srgbClr val="ECF5F3"/>
          </a:solidFill>
          <a:ln/>
        </p:spPr>
      </p:sp>
      <p:sp>
        <p:nvSpPr>
          <p:cNvPr id="28" name="Shape 20"/>
          <p:cNvSpPr/>
          <p:nvPr/>
        </p:nvSpPr>
        <p:spPr>
          <a:xfrm>
            <a:off x="868680" y="5212080"/>
            <a:ext cx="548640" cy="548640"/>
          </a:xfrm>
          <a:prstGeom prst="ellipse">
            <a:avLst/>
          </a:prstGeom>
          <a:solidFill>
            <a:srgbClr val="0F766E"/>
          </a:solidFill>
          <a:ln/>
        </p:spPr>
      </p:sp>
      <p:pic>
        <p:nvPicPr>
          <p:cNvPr id="2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6813" y="5360213"/>
            <a:ext cx="252374" cy="252374"/>
          </a:xfrm>
          <a:prstGeom prst="rect">
            <a:avLst/>
          </a:prstGeom>
        </p:spPr>
      </p:pic>
      <p:sp>
        <p:nvSpPr>
          <p:cNvPr id="30" name="Text 21"/>
          <p:cNvSpPr txBox="1"/>
          <p:nvPr/>
        </p:nvSpPr>
        <p:spPr>
          <a:xfrm>
            <a:off x="1600200" y="4754880"/>
            <a:ext cx="2377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career guidance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advice for different career paths.</a:t>
            </a:r>
            <a:endParaRPr lang="en-US" sz="1500" dirty="0"/>
          </a:p>
        </p:txBody>
      </p:sp>
      <p:sp>
        <p:nvSpPr>
          <p:cNvPr id="31" name="Shape 22"/>
          <p:cNvSpPr/>
          <p:nvPr/>
        </p:nvSpPr>
        <p:spPr>
          <a:xfrm>
            <a:off x="4357116" y="4754880"/>
            <a:ext cx="3474720" cy="1463040"/>
          </a:xfrm>
          <a:prstGeom prst="roundRect">
            <a:avLst>
              <a:gd name="adj" fmla="val 7500"/>
            </a:avLst>
          </a:prstGeom>
          <a:solidFill>
            <a:srgbClr val="ECF5F3"/>
          </a:solidFill>
          <a:ln/>
        </p:spPr>
      </p:sp>
      <p:sp>
        <p:nvSpPr>
          <p:cNvPr id="32" name="Shape 23"/>
          <p:cNvSpPr/>
          <p:nvPr/>
        </p:nvSpPr>
        <p:spPr>
          <a:xfrm>
            <a:off x="4585716" y="5212080"/>
            <a:ext cx="548640" cy="548640"/>
          </a:xfrm>
          <a:prstGeom prst="ellipse">
            <a:avLst/>
          </a:prstGeom>
          <a:solidFill>
            <a:srgbClr val="0F766E"/>
          </a:solidFill>
          <a:ln/>
        </p:spPr>
      </p:sp>
      <p:pic>
        <p:nvPicPr>
          <p:cNvPr id="3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33849" y="5360213"/>
            <a:ext cx="252374" cy="252374"/>
          </a:xfrm>
          <a:prstGeom prst="rect">
            <a:avLst/>
          </a:prstGeom>
        </p:spPr>
      </p:pic>
      <p:sp>
        <p:nvSpPr>
          <p:cNvPr id="34" name="Text 24"/>
          <p:cNvSpPr txBox="1"/>
          <p:nvPr/>
        </p:nvSpPr>
        <p:spPr>
          <a:xfrm>
            <a:off x="5317236" y="4754880"/>
            <a:ext cx="2377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Greater teacher collaboration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resources, ideas and best practices easily.</a:t>
            </a:r>
            <a:endParaRPr lang="en-US" sz="1500" dirty="0"/>
          </a:p>
        </p:txBody>
      </p:sp>
      <p:sp>
        <p:nvSpPr>
          <p:cNvPr id="35" name="Shape 25"/>
          <p:cNvSpPr/>
          <p:nvPr/>
        </p:nvSpPr>
        <p:spPr>
          <a:xfrm>
            <a:off x="8074152" y="4754880"/>
            <a:ext cx="3474720" cy="1463040"/>
          </a:xfrm>
          <a:prstGeom prst="roundRect">
            <a:avLst>
              <a:gd name="adj" fmla="val 7500"/>
            </a:avLst>
          </a:prstGeom>
          <a:solidFill>
            <a:srgbClr val="ECF5F3"/>
          </a:solidFill>
          <a:ln/>
        </p:spPr>
      </p:sp>
      <p:sp>
        <p:nvSpPr>
          <p:cNvPr id="36" name="Shape 26"/>
          <p:cNvSpPr/>
          <p:nvPr/>
        </p:nvSpPr>
        <p:spPr>
          <a:xfrm>
            <a:off x="8302752" y="5212080"/>
            <a:ext cx="548640" cy="548640"/>
          </a:xfrm>
          <a:prstGeom prst="ellipse">
            <a:avLst/>
          </a:prstGeom>
          <a:solidFill>
            <a:srgbClr val="0F766E"/>
          </a:solidFill>
          <a:ln/>
        </p:spPr>
      </p:sp>
      <p:pic>
        <p:nvPicPr>
          <p:cNvPr id="37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50885" y="5360213"/>
            <a:ext cx="252374" cy="252374"/>
          </a:xfrm>
          <a:prstGeom prst="rect">
            <a:avLst/>
          </a:prstGeom>
        </p:spPr>
      </p:pic>
      <p:sp>
        <p:nvSpPr>
          <p:cNvPr id="38" name="Text 27"/>
          <p:cNvSpPr txBox="1"/>
          <p:nvPr/>
        </p:nvSpPr>
        <p:spPr>
          <a:xfrm>
            <a:off x="9034272" y="4754880"/>
            <a:ext cx="2377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with government digital infrastructure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with national platforms like DIKSHA, ePathshala, etc.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CA3A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23F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731520"/>
            <a:ext cx="640080" cy="640080"/>
          </a:xfrm>
          <a:prstGeom prst="ellipse">
            <a:avLst/>
          </a:prstGeom>
          <a:solidFill>
            <a:srgbClr val="1F5C57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4342" y="904342"/>
            <a:ext cx="294437" cy="294437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731520" y="2468880"/>
            <a:ext cx="6400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8000" dirty="0"/>
          </a:p>
        </p:txBody>
      </p:sp>
      <p:sp>
        <p:nvSpPr>
          <p:cNvPr id="5" name="Text 2"/>
          <p:cNvSpPr txBox="1"/>
          <p:nvPr/>
        </p:nvSpPr>
        <p:spPr>
          <a:xfrm>
            <a:off x="731520" y="402336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B7C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your time, support and attention.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7863840" y="1737360"/>
            <a:ext cx="3657600" cy="3383280"/>
          </a:xfrm>
          <a:prstGeom prst="roundRect">
            <a:avLst>
              <a:gd name="adj" fmla="val 4054"/>
            </a:avLst>
          </a:prstGeom>
          <a:solidFill>
            <a:srgbClr val="FFFFFF"/>
          </a:solidFill>
          <a:ln/>
        </p:spPr>
      </p:sp>
      <p:pic>
        <p:nvPicPr>
          <p:cNvPr id="7" name="Image 1" descr="Friendly AI robot holding a Keep Learning sig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0" y="2057400"/>
            <a:ext cx="3291840" cy="2743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Education &amp; E-Learning Platform</dc:title>
  <dc:subject>PptxGenJS Presentation</dc:subject>
  <dc:creator>PptxGenJS</dc:creator>
  <cp:lastModifiedBy>PptxGenJS</cp:lastModifiedBy>
  <cp:revision>1</cp:revision>
  <dcterms:created xsi:type="dcterms:W3CDTF">2026-10-07T04:09:09Z</dcterms:created>
  <dcterms:modified xsi:type="dcterms:W3CDTF">2026-10-07T04:09:09Z</dcterms:modified>
</cp:coreProperties>
</file>